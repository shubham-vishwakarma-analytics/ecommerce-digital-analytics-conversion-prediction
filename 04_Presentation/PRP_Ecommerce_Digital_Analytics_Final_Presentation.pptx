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17"/>
    <p:sldId id="271" r:id="rId18"/>
    <p:sldId id="272" r:id="rId19"/>
    <p:sldId id="273" r:id="rId20"/>
    <p:sldId id="274" r:id="rId21"/>
    <p:sldId id="27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86" y="25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Conversion Rate %</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A8F2-48CA-8737-54F920035585}"/>
              </c:ext>
            </c:extLst>
          </c:dPt>
          <c:dPt>
            <c:idx val="1"/>
            <c:invertIfNegative val="0"/>
            <c:bubble3D val="0"/>
            <c:spPr>
              <a:solidFill>
                <a:srgbClr val="C1443A"/>
              </a:solidFill>
              <a:effectLst/>
            </c:spPr>
            <c:extLst>
              <c:ext xmlns:c16="http://schemas.microsoft.com/office/drawing/2014/chart" uri="{C3380CC4-5D6E-409C-BE32-E72D297353CC}">
                <c16:uniqueId val="{00000003-A8F2-48CA-8737-54F920035585}"/>
              </c:ext>
            </c:extLst>
          </c:dPt>
          <c:dLbls>
            <c:numFmt formatCode="0.00&quot;%&quot;" sourceLinked="0"/>
            <c:spPr>
              <a:noFill/>
              <a:ln>
                <a:noFill/>
              </a:ln>
              <a:effectLst/>
            </c:spPr>
            <c:txPr>
              <a:bodyPr/>
              <a:lstStyle/>
              <a:p>
                <a:pPr>
                  <a:defRPr sz="1300" b="0" i="0" u="none" strike="noStrike">
                    <a:solidFill>
                      <a:srgbClr val="1623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Desktop</c:v>
                </c:pt>
                <c:pt idx="1">
                  <c:v>Mobile</c:v>
                </c:pt>
              </c:strCache>
            </c:strRef>
          </c:cat>
          <c:val>
            <c:numRef>
              <c:f>Sheet1!$B$2:$B$3</c:f>
              <c:numCache>
                <c:formatCode>General</c:formatCode>
                <c:ptCount val="2"/>
                <c:pt idx="0">
                  <c:v>8.5</c:v>
                </c:pt>
                <c:pt idx="1">
                  <c:v>3.09</c:v>
                </c:pt>
              </c:numCache>
            </c:numRef>
          </c:val>
          <c:extLst>
            <c:ext xmlns:c16="http://schemas.microsoft.com/office/drawing/2014/chart" uri="{C3380CC4-5D6E-409C-BE32-E72D297353CC}">
              <c16:uniqueId val="{00000004-A8F2-48CA-8737-54F92003558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233B"/>
                </a:solidFill>
                <a:latin typeface="Arial"/>
              </a:defRPr>
            </a:pPr>
            <a:endParaRPr lang="en-US"/>
          </a:p>
        </c:txPr>
        <c:crossAx val="2094734552"/>
        <c:crosses val="autoZero"/>
        <c:auto val="1"/>
        <c:lblAlgn val="ctr"/>
        <c:lblOffset val="100"/>
        <c:noMultiLvlLbl val="1"/>
      </c:catAx>
      <c:valAx>
        <c:axId val="2094734552"/>
        <c:scaling>
          <c:orientation val="minMax"/>
          <c:max val="10"/>
        </c:scaling>
        <c:delete val="0"/>
        <c:axPos val="l"/>
        <c:majorGridlines>
          <c:spPr>
            <a:ln w="12700" cap="flat">
              <a:solidFill>
                <a:srgbClr val="E1E6EF"/>
              </a:solidFill>
              <a:prstDash val="solid"/>
              <a:round/>
            </a:ln>
          </c:spPr>
        </c:majorGridlines>
        <c:title>
          <c:tx>
            <c:rich>
              <a:bodyPr/>
              <a:lstStyle/>
              <a:p>
                <a:pPr>
                  <a:defRPr sz="1050" b="0" i="0" u="none" strike="noStrike">
                    <a:solidFill>
                      <a:srgbClr val="5B6A82"/>
                    </a:solidFill>
                    <a:latin typeface="Arial"/>
                  </a:defRPr>
                </a:pPr>
                <a:r>
                  <a:rPr lang="en-IN" sz="1050" b="0" i="0" u="none" strike="noStrike">
                    <a:solidFill>
                      <a:srgbClr val="5B6A82"/>
                    </a:solidFill>
                    <a:latin typeface="Arial"/>
                  </a:rPr>
                  <a:t>Conversion Rate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A8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6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32A4C"/>
          </a:solidFill>
          <a:ln/>
        </p:spPr>
      </p:sp>
      <p:sp>
        <p:nvSpPr>
          <p:cNvPr id="3" name="Shape 1"/>
          <p:cNvSpPr/>
          <p:nvPr/>
        </p:nvSpPr>
        <p:spPr>
          <a:xfrm>
            <a:off x="10607040" y="4023360"/>
            <a:ext cx="2926080" cy="2926080"/>
          </a:xfrm>
          <a:prstGeom prst="ellipse">
            <a:avLst/>
          </a:prstGeom>
          <a:solidFill>
            <a:srgbClr val="132A4C"/>
          </a:solidFill>
          <a:ln/>
        </p:spPr>
      </p:sp>
      <p:sp>
        <p:nvSpPr>
          <p:cNvPr id="4" name="Shape 2"/>
          <p:cNvSpPr/>
          <p:nvPr/>
        </p:nvSpPr>
        <p:spPr>
          <a:xfrm>
            <a:off x="0" y="5989320"/>
            <a:ext cx="12188952" cy="18288"/>
          </a:xfrm>
          <a:prstGeom prst="rect">
            <a:avLst/>
          </a:prstGeom>
          <a:solidFill>
            <a:srgbClr val="26375C"/>
          </a:solidFill>
          <a:ln/>
        </p:spPr>
      </p:sp>
      <p:sp>
        <p:nvSpPr>
          <p:cNvPr id="5" name="Shape 3"/>
          <p:cNvSpPr/>
          <p:nvPr/>
        </p:nvSpPr>
        <p:spPr>
          <a:xfrm>
            <a:off x="640080" y="1417320"/>
            <a:ext cx="2331720" cy="329184"/>
          </a:xfrm>
          <a:prstGeom prst="roundRect">
            <a:avLst>
              <a:gd name="adj" fmla="val 25000"/>
            </a:avLst>
          </a:prstGeom>
          <a:solidFill>
            <a:srgbClr val="F2B134"/>
          </a:solidFill>
          <a:ln/>
        </p:spPr>
      </p:sp>
      <p:sp>
        <p:nvSpPr>
          <p:cNvPr id="6" name="Text 4"/>
          <p:cNvSpPr/>
          <p:nvPr/>
        </p:nvSpPr>
        <p:spPr>
          <a:xfrm>
            <a:off x="640080" y="1417320"/>
            <a:ext cx="2331720" cy="329184"/>
          </a:xfrm>
          <a:prstGeom prst="rect">
            <a:avLst/>
          </a:prstGeom>
          <a:noFill/>
          <a:ln/>
        </p:spPr>
        <p:txBody>
          <a:bodyPr wrap="square" rtlCol="0" anchor="ctr"/>
          <a:lstStyle/>
          <a:p>
            <a:pPr marL="0" indent="0" algn="ctr">
              <a:buNone/>
            </a:pPr>
            <a:r>
              <a:rPr lang="en-US" sz="1200" b="1" kern="0" spc="150" dirty="0">
                <a:solidFill>
                  <a:srgbClr val="0B1F3A"/>
                </a:solidFill>
                <a:latin typeface="Calibri" pitchFamily="34" charset="0"/>
                <a:ea typeface="Calibri" pitchFamily="34" charset="-122"/>
                <a:cs typeface="Calibri" pitchFamily="34" charset="-120"/>
              </a:rPr>
              <a:t>PRP  PROJECT</a:t>
            </a:r>
            <a:endParaRPr lang="en-US" sz="1200" dirty="0"/>
          </a:p>
        </p:txBody>
      </p:sp>
      <p:sp>
        <p:nvSpPr>
          <p:cNvPr id="7" name="Text 5"/>
          <p:cNvSpPr/>
          <p:nvPr/>
        </p:nvSpPr>
        <p:spPr>
          <a:xfrm>
            <a:off x="621792" y="1965960"/>
            <a:ext cx="9601200" cy="91440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E-Commerce Digital Analytics</a:t>
            </a:r>
            <a:endParaRPr lang="en-US" sz="4200" dirty="0"/>
          </a:p>
        </p:txBody>
      </p:sp>
      <p:sp>
        <p:nvSpPr>
          <p:cNvPr id="8" name="Text 6"/>
          <p:cNvSpPr/>
          <p:nvPr/>
        </p:nvSpPr>
        <p:spPr>
          <a:xfrm>
            <a:off x="640080" y="2788920"/>
            <a:ext cx="9144000" cy="548640"/>
          </a:xfrm>
          <a:prstGeom prst="rect">
            <a:avLst/>
          </a:prstGeom>
          <a:noFill/>
          <a:ln/>
        </p:spPr>
        <p:txBody>
          <a:bodyPr wrap="square" lIns="0" tIns="0" rIns="0" bIns="0" rtlCol="0" anchor="ctr"/>
          <a:lstStyle/>
          <a:p>
            <a:pPr marL="0" indent="0">
              <a:buNone/>
            </a:pPr>
            <a:r>
              <a:rPr lang="en-US" sz="2400" dirty="0">
                <a:solidFill>
                  <a:srgbClr val="F2B134"/>
                </a:solidFill>
                <a:latin typeface="Cambria" pitchFamily="34" charset="0"/>
                <a:ea typeface="Cambria" pitchFamily="34" charset="-122"/>
                <a:cs typeface="Cambria" pitchFamily="34" charset="-120"/>
              </a:rPr>
              <a:t>Final Deliverable Presentation</a:t>
            </a:r>
            <a:endParaRPr lang="en-US" sz="2400" dirty="0"/>
          </a:p>
        </p:txBody>
      </p:sp>
      <p:sp>
        <p:nvSpPr>
          <p:cNvPr id="9" name="Text 7"/>
          <p:cNvSpPr/>
          <p:nvPr/>
        </p:nvSpPr>
        <p:spPr>
          <a:xfrm>
            <a:off x="640080" y="3429000"/>
            <a:ext cx="8686800" cy="731520"/>
          </a:xfrm>
          <a:prstGeom prst="rect">
            <a:avLst/>
          </a:prstGeom>
          <a:noFill/>
          <a:ln/>
        </p:spPr>
        <p:txBody>
          <a:bodyPr wrap="square" lIns="0" tIns="0" rIns="0" bIns="0" rtlCol="0" anchor="ctr"/>
          <a:lstStyle/>
          <a:p>
            <a:pPr marL="0" indent="0">
              <a:lnSpc>
                <a:spcPct val="130000"/>
              </a:lnSpc>
              <a:buNone/>
            </a:pPr>
            <a:r>
              <a:rPr lang="en-US" sz="1400" dirty="0">
                <a:solidFill>
                  <a:srgbClr val="C7D3E8"/>
                </a:solidFill>
                <a:latin typeface="Calibri" pitchFamily="34" charset="0"/>
                <a:ea typeface="Calibri" pitchFamily="34" charset="-122"/>
                <a:cs typeface="Calibri" pitchFamily="34" charset="-120"/>
              </a:rPr>
              <a:t>SQL Server  •  Python &amp; Machine Learning  •  Power BI</a:t>
            </a:r>
            <a:endParaRPr lang="en-US" sz="1400" dirty="0"/>
          </a:p>
          <a:p>
            <a:pPr marL="0" indent="0">
              <a:lnSpc>
                <a:spcPct val="130000"/>
              </a:lnSpc>
              <a:buNone/>
            </a:pPr>
            <a:r>
              <a:rPr lang="en-US" sz="1400" dirty="0">
                <a:solidFill>
                  <a:srgbClr val="C7D3E8"/>
                </a:solidFill>
                <a:latin typeface="Calibri" pitchFamily="34" charset="0"/>
                <a:ea typeface="Calibri" pitchFamily="34" charset="-122"/>
                <a:cs typeface="Calibri" pitchFamily="34" charset="-120"/>
              </a:rPr>
              <a:t>End-to-end analytics on website sessions, orders, products &amp; refunds</a:t>
            </a:r>
            <a:endParaRPr lang="en-US" sz="1400" dirty="0"/>
          </a:p>
        </p:txBody>
      </p:sp>
      <p:sp>
        <p:nvSpPr>
          <p:cNvPr id="10" name="Text 8"/>
          <p:cNvSpPr/>
          <p:nvPr/>
        </p:nvSpPr>
        <p:spPr>
          <a:xfrm>
            <a:off x="640080" y="4892040"/>
            <a:ext cx="3200400" cy="256032"/>
          </a:xfrm>
          <a:prstGeom prst="rect">
            <a:avLst/>
          </a:prstGeom>
          <a:noFill/>
          <a:ln/>
        </p:spPr>
        <p:txBody>
          <a:bodyPr wrap="square" lIns="0" tIns="0" rIns="0" bIns="0" rtlCol="0" anchor="ctr"/>
          <a:lstStyle/>
          <a:p>
            <a:pPr marL="0" indent="0">
              <a:buNone/>
            </a:pPr>
            <a:r>
              <a:rPr lang="en-US" sz="1000" b="1" kern="0" spc="100" dirty="0">
                <a:solidFill>
                  <a:srgbClr val="F2B134"/>
                </a:solidFill>
                <a:latin typeface="Calibri" pitchFamily="34" charset="0"/>
                <a:ea typeface="Calibri" pitchFamily="34" charset="-122"/>
                <a:cs typeface="Calibri" pitchFamily="34" charset="-120"/>
              </a:rPr>
              <a:t>DATABASE</a:t>
            </a:r>
            <a:endParaRPr lang="en-US" sz="1000" dirty="0"/>
          </a:p>
        </p:txBody>
      </p:sp>
      <p:sp>
        <p:nvSpPr>
          <p:cNvPr id="11" name="Text 9"/>
          <p:cNvSpPr/>
          <p:nvPr/>
        </p:nvSpPr>
        <p:spPr>
          <a:xfrm>
            <a:off x="640080" y="5138928"/>
            <a:ext cx="320040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PRP_Ecommerce_Analytics</a:t>
            </a:r>
            <a:endParaRPr lang="en-US" sz="1350" dirty="0"/>
          </a:p>
        </p:txBody>
      </p:sp>
      <p:sp>
        <p:nvSpPr>
          <p:cNvPr id="12" name="Text 10"/>
          <p:cNvSpPr/>
          <p:nvPr/>
        </p:nvSpPr>
        <p:spPr>
          <a:xfrm>
            <a:off x="3931920" y="4892040"/>
            <a:ext cx="3200400" cy="256032"/>
          </a:xfrm>
          <a:prstGeom prst="rect">
            <a:avLst/>
          </a:prstGeom>
          <a:noFill/>
          <a:ln/>
        </p:spPr>
        <p:txBody>
          <a:bodyPr wrap="square" lIns="0" tIns="0" rIns="0" bIns="0" rtlCol="0" anchor="ctr"/>
          <a:lstStyle/>
          <a:p>
            <a:pPr marL="0" indent="0">
              <a:buNone/>
            </a:pPr>
            <a:r>
              <a:rPr lang="en-US" sz="1000" b="1" kern="0" spc="100" dirty="0">
                <a:solidFill>
                  <a:srgbClr val="F2B134"/>
                </a:solidFill>
                <a:latin typeface="Calibri" pitchFamily="34" charset="0"/>
                <a:ea typeface="Calibri" pitchFamily="34" charset="-122"/>
                <a:cs typeface="Calibri" pitchFamily="34" charset="-120"/>
              </a:rPr>
              <a:t>ANALYSIS WINDOW</a:t>
            </a:r>
            <a:endParaRPr lang="en-US" sz="1000" dirty="0"/>
          </a:p>
        </p:txBody>
      </p:sp>
      <p:sp>
        <p:nvSpPr>
          <p:cNvPr id="13" name="Text 11"/>
          <p:cNvSpPr/>
          <p:nvPr/>
        </p:nvSpPr>
        <p:spPr>
          <a:xfrm>
            <a:off x="3931920" y="5138928"/>
            <a:ext cx="320040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Dec 2012 – Apr 2015</a:t>
            </a:r>
            <a:endParaRPr lang="en-US" sz="1350" dirty="0"/>
          </a:p>
        </p:txBody>
      </p:sp>
      <p:sp>
        <p:nvSpPr>
          <p:cNvPr id="14" name="Text 12"/>
          <p:cNvSpPr/>
          <p:nvPr/>
        </p:nvSpPr>
        <p:spPr>
          <a:xfrm>
            <a:off x="7223760" y="4892040"/>
            <a:ext cx="3200400" cy="256032"/>
          </a:xfrm>
          <a:prstGeom prst="rect">
            <a:avLst/>
          </a:prstGeom>
          <a:noFill/>
          <a:ln/>
        </p:spPr>
        <p:txBody>
          <a:bodyPr wrap="square" lIns="0" tIns="0" rIns="0" bIns="0" rtlCol="0" anchor="ctr"/>
          <a:lstStyle/>
          <a:p>
            <a:pPr marL="0" indent="0">
              <a:buNone/>
            </a:pPr>
            <a:r>
              <a:rPr lang="en-US" sz="1000" b="1" kern="0" spc="100" dirty="0">
                <a:solidFill>
                  <a:srgbClr val="F2B134"/>
                </a:solidFill>
                <a:latin typeface="Calibri" pitchFamily="34" charset="0"/>
                <a:ea typeface="Calibri" pitchFamily="34" charset="-122"/>
                <a:cs typeface="Calibri" pitchFamily="34" charset="-120"/>
              </a:rPr>
              <a:t>SUBMISSION</a:t>
            </a:r>
            <a:endParaRPr lang="en-US" sz="1000" dirty="0"/>
          </a:p>
        </p:txBody>
      </p:sp>
      <p:sp>
        <p:nvSpPr>
          <p:cNvPr id="15" name="Text 13"/>
          <p:cNvSpPr/>
          <p:nvPr/>
        </p:nvSpPr>
        <p:spPr>
          <a:xfrm>
            <a:off x="7223760" y="5138928"/>
            <a:ext cx="3200400" cy="36576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2nd September 2026</a:t>
            </a:r>
            <a:endParaRPr lang="en-US" sz="1350" dirty="0"/>
          </a:p>
        </p:txBody>
      </p:sp>
      <p:sp>
        <p:nvSpPr>
          <p:cNvPr id="16" name="Text 14"/>
          <p:cNvSpPr/>
          <p:nvPr/>
        </p:nvSpPr>
        <p:spPr>
          <a:xfrm>
            <a:off x="640080" y="6172200"/>
            <a:ext cx="5486400" cy="320040"/>
          </a:xfrm>
          <a:prstGeom prst="rect">
            <a:avLst/>
          </a:prstGeom>
          <a:noFill/>
          <a:ln/>
        </p:spPr>
        <p:txBody>
          <a:bodyPr wrap="square" lIns="0" tIns="0" rIns="0" bIns="0" rtlCol="0" anchor="ctr"/>
          <a:lstStyle/>
          <a:p>
            <a:pPr marL="0" indent="0">
              <a:buNone/>
            </a:pPr>
            <a:r>
              <a:rPr lang="en-US" sz="1050" dirty="0">
                <a:solidFill>
                  <a:srgbClr val="8CA0BE"/>
                </a:solidFill>
                <a:latin typeface="Calibri" pitchFamily="34" charset="0"/>
                <a:ea typeface="Calibri" pitchFamily="34" charset="-122"/>
                <a:cs typeface="Calibri" pitchFamily="34" charset="-120"/>
              </a:rPr>
              <a:t>Prepared by Shubham Vishwakarma  </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1033272" cy="292608"/>
          </a:xfrm>
          <a:prstGeom prst="roundRect">
            <a:avLst>
              <a:gd name="adj" fmla="val 25000"/>
            </a:avLst>
          </a:prstGeom>
          <a:solidFill>
            <a:srgbClr val="F2B134"/>
          </a:solidFill>
          <a:ln/>
        </p:spPr>
      </p:sp>
      <p:sp>
        <p:nvSpPr>
          <p:cNvPr id="3" name="Text 1"/>
          <p:cNvSpPr/>
          <p:nvPr/>
        </p:nvSpPr>
        <p:spPr>
          <a:xfrm>
            <a:off x="502920" y="384048"/>
            <a:ext cx="1033272"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AGENDA</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What We'll Cover Today</a:t>
            </a:r>
            <a:endParaRPr lang="en-US" sz="3000" dirty="0"/>
          </a:p>
        </p:txBody>
      </p:sp>
      <p:sp>
        <p:nvSpPr>
          <p:cNvPr id="5" name="Shape 3"/>
          <p:cNvSpPr/>
          <p:nvPr/>
        </p:nvSpPr>
        <p:spPr>
          <a:xfrm>
            <a:off x="548640" y="1965960"/>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6" name="Shape 4"/>
          <p:cNvSpPr/>
          <p:nvPr/>
        </p:nvSpPr>
        <p:spPr>
          <a:xfrm>
            <a:off x="749808" y="2253996"/>
            <a:ext cx="457200" cy="457200"/>
          </a:xfrm>
          <a:prstGeom prst="ellipse">
            <a:avLst/>
          </a:prstGeom>
          <a:solidFill>
            <a:srgbClr val="0B1F3A"/>
          </a:solidFill>
          <a:ln/>
        </p:spPr>
      </p:sp>
      <p:sp>
        <p:nvSpPr>
          <p:cNvPr id="7" name="Text 5"/>
          <p:cNvSpPr/>
          <p:nvPr/>
        </p:nvSpPr>
        <p:spPr>
          <a:xfrm>
            <a:off x="749808" y="22539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1417320" y="2084832"/>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Business Understanding</a:t>
            </a:r>
            <a:endParaRPr lang="en-US" sz="1450" dirty="0"/>
          </a:p>
        </p:txBody>
      </p:sp>
      <p:sp>
        <p:nvSpPr>
          <p:cNvPr id="9" name="Text 7"/>
          <p:cNvSpPr/>
          <p:nvPr/>
        </p:nvSpPr>
        <p:spPr>
          <a:xfrm>
            <a:off x="1417320" y="2450592"/>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Context, problem statement &amp; objectives</a:t>
            </a:r>
            <a:endParaRPr lang="en-US" sz="1150" dirty="0"/>
          </a:p>
        </p:txBody>
      </p:sp>
      <p:sp>
        <p:nvSpPr>
          <p:cNvPr id="10" name="Shape 8"/>
          <p:cNvSpPr/>
          <p:nvPr/>
        </p:nvSpPr>
        <p:spPr>
          <a:xfrm>
            <a:off x="6263640" y="1965960"/>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11" name="Shape 9"/>
          <p:cNvSpPr/>
          <p:nvPr/>
        </p:nvSpPr>
        <p:spPr>
          <a:xfrm>
            <a:off x="6464808" y="2253996"/>
            <a:ext cx="457200" cy="457200"/>
          </a:xfrm>
          <a:prstGeom prst="ellipse">
            <a:avLst/>
          </a:prstGeom>
          <a:solidFill>
            <a:srgbClr val="0B1F3A"/>
          </a:solidFill>
          <a:ln/>
        </p:spPr>
      </p:sp>
      <p:sp>
        <p:nvSpPr>
          <p:cNvPr id="12" name="Text 10"/>
          <p:cNvSpPr/>
          <p:nvPr/>
        </p:nvSpPr>
        <p:spPr>
          <a:xfrm>
            <a:off x="6464808" y="22539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7132320" y="2084832"/>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Technology Stack &amp; Data Architecture</a:t>
            </a:r>
            <a:endParaRPr lang="en-US" sz="1450" dirty="0"/>
          </a:p>
        </p:txBody>
      </p:sp>
      <p:sp>
        <p:nvSpPr>
          <p:cNvPr id="14" name="Text 12"/>
          <p:cNvSpPr/>
          <p:nvPr/>
        </p:nvSpPr>
        <p:spPr>
          <a:xfrm>
            <a:off x="7132320" y="2450592"/>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Tools used and how the data is modelled</a:t>
            </a:r>
            <a:endParaRPr lang="en-US" sz="1150" dirty="0"/>
          </a:p>
        </p:txBody>
      </p:sp>
      <p:sp>
        <p:nvSpPr>
          <p:cNvPr id="15" name="Shape 13"/>
          <p:cNvSpPr/>
          <p:nvPr/>
        </p:nvSpPr>
        <p:spPr>
          <a:xfrm>
            <a:off x="548640" y="3127248"/>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16" name="Shape 14"/>
          <p:cNvSpPr/>
          <p:nvPr/>
        </p:nvSpPr>
        <p:spPr>
          <a:xfrm>
            <a:off x="749808" y="3415284"/>
            <a:ext cx="457200" cy="457200"/>
          </a:xfrm>
          <a:prstGeom prst="ellipse">
            <a:avLst/>
          </a:prstGeom>
          <a:solidFill>
            <a:srgbClr val="0B1F3A"/>
          </a:solidFill>
          <a:ln/>
        </p:spPr>
      </p:sp>
      <p:sp>
        <p:nvSpPr>
          <p:cNvPr id="17" name="Text 15"/>
          <p:cNvSpPr/>
          <p:nvPr/>
        </p:nvSpPr>
        <p:spPr>
          <a:xfrm>
            <a:off x="749808" y="341528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8" name="Text 16"/>
          <p:cNvSpPr/>
          <p:nvPr/>
        </p:nvSpPr>
        <p:spPr>
          <a:xfrm>
            <a:off x="1417320" y="3246120"/>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Data Quality &amp; KPI Framework</a:t>
            </a:r>
            <a:endParaRPr lang="en-US" sz="1450" dirty="0"/>
          </a:p>
        </p:txBody>
      </p:sp>
      <p:sp>
        <p:nvSpPr>
          <p:cNvPr id="19" name="Text 17"/>
          <p:cNvSpPr/>
          <p:nvPr/>
        </p:nvSpPr>
        <p:spPr>
          <a:xfrm>
            <a:off x="1417320" y="3611880"/>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Audit approach and how KPIs are defined</a:t>
            </a:r>
            <a:endParaRPr lang="en-US" sz="1150" dirty="0"/>
          </a:p>
        </p:txBody>
      </p:sp>
      <p:sp>
        <p:nvSpPr>
          <p:cNvPr id="20" name="Shape 18"/>
          <p:cNvSpPr/>
          <p:nvPr/>
        </p:nvSpPr>
        <p:spPr>
          <a:xfrm>
            <a:off x="6263640" y="3127248"/>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21" name="Shape 19"/>
          <p:cNvSpPr/>
          <p:nvPr/>
        </p:nvSpPr>
        <p:spPr>
          <a:xfrm>
            <a:off x="6464808" y="3415284"/>
            <a:ext cx="457200" cy="457200"/>
          </a:xfrm>
          <a:prstGeom prst="ellipse">
            <a:avLst/>
          </a:prstGeom>
          <a:solidFill>
            <a:srgbClr val="0B1F3A"/>
          </a:solidFill>
          <a:ln/>
        </p:spPr>
      </p:sp>
      <p:sp>
        <p:nvSpPr>
          <p:cNvPr id="22" name="Text 20"/>
          <p:cNvSpPr/>
          <p:nvPr/>
        </p:nvSpPr>
        <p:spPr>
          <a:xfrm>
            <a:off x="6464808" y="341528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3" name="Text 21"/>
          <p:cNvSpPr/>
          <p:nvPr/>
        </p:nvSpPr>
        <p:spPr>
          <a:xfrm>
            <a:off x="7132320" y="3246120"/>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Descriptive Analysis</a:t>
            </a:r>
            <a:endParaRPr lang="en-US" sz="1450" dirty="0"/>
          </a:p>
        </p:txBody>
      </p:sp>
      <p:sp>
        <p:nvSpPr>
          <p:cNvPr id="24" name="Text 22"/>
          <p:cNvSpPr/>
          <p:nvPr/>
        </p:nvSpPr>
        <p:spPr>
          <a:xfrm>
            <a:off x="7132320" y="3611880"/>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Revenue, marketing, product &amp; refund performance</a:t>
            </a:r>
            <a:endParaRPr lang="en-US" sz="1150" dirty="0"/>
          </a:p>
        </p:txBody>
      </p:sp>
      <p:sp>
        <p:nvSpPr>
          <p:cNvPr id="25" name="Shape 23"/>
          <p:cNvSpPr/>
          <p:nvPr/>
        </p:nvSpPr>
        <p:spPr>
          <a:xfrm>
            <a:off x="548640" y="4288536"/>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26" name="Shape 24"/>
          <p:cNvSpPr/>
          <p:nvPr/>
        </p:nvSpPr>
        <p:spPr>
          <a:xfrm>
            <a:off x="749808" y="4576572"/>
            <a:ext cx="457200" cy="457200"/>
          </a:xfrm>
          <a:prstGeom prst="ellipse">
            <a:avLst/>
          </a:prstGeom>
          <a:solidFill>
            <a:srgbClr val="0B1F3A"/>
          </a:solidFill>
          <a:ln/>
        </p:spPr>
      </p:sp>
      <p:sp>
        <p:nvSpPr>
          <p:cNvPr id="27" name="Text 25"/>
          <p:cNvSpPr/>
          <p:nvPr/>
        </p:nvSpPr>
        <p:spPr>
          <a:xfrm>
            <a:off x="749808" y="45765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8" name="Text 26"/>
          <p:cNvSpPr/>
          <p:nvPr/>
        </p:nvSpPr>
        <p:spPr>
          <a:xfrm>
            <a:off x="1417320" y="4407408"/>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Diagnostic Analysis</a:t>
            </a:r>
            <a:endParaRPr lang="en-US" sz="1450" dirty="0"/>
          </a:p>
        </p:txBody>
      </p:sp>
      <p:sp>
        <p:nvSpPr>
          <p:cNvPr id="29" name="Text 27"/>
          <p:cNvSpPr/>
          <p:nvPr/>
        </p:nvSpPr>
        <p:spPr>
          <a:xfrm>
            <a:off x="1417320" y="4773168"/>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Where and why performance varies</a:t>
            </a:r>
            <a:endParaRPr lang="en-US" sz="1150" dirty="0"/>
          </a:p>
        </p:txBody>
      </p:sp>
      <p:sp>
        <p:nvSpPr>
          <p:cNvPr id="30" name="Shape 28"/>
          <p:cNvSpPr/>
          <p:nvPr/>
        </p:nvSpPr>
        <p:spPr>
          <a:xfrm>
            <a:off x="6263640" y="4288536"/>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31" name="Shape 29"/>
          <p:cNvSpPr/>
          <p:nvPr/>
        </p:nvSpPr>
        <p:spPr>
          <a:xfrm>
            <a:off x="6464808" y="4576572"/>
            <a:ext cx="457200" cy="457200"/>
          </a:xfrm>
          <a:prstGeom prst="ellipse">
            <a:avLst/>
          </a:prstGeom>
          <a:solidFill>
            <a:srgbClr val="0B1F3A"/>
          </a:solidFill>
          <a:ln/>
        </p:spPr>
      </p:sp>
      <p:sp>
        <p:nvSpPr>
          <p:cNvPr id="32" name="Text 30"/>
          <p:cNvSpPr/>
          <p:nvPr/>
        </p:nvSpPr>
        <p:spPr>
          <a:xfrm>
            <a:off x="6464808" y="45765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33" name="Text 31"/>
          <p:cNvSpPr/>
          <p:nvPr/>
        </p:nvSpPr>
        <p:spPr>
          <a:xfrm>
            <a:off x="7132320" y="4407408"/>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Predictive Analysis</a:t>
            </a:r>
            <a:endParaRPr lang="en-US" sz="1450" dirty="0"/>
          </a:p>
        </p:txBody>
      </p:sp>
      <p:sp>
        <p:nvSpPr>
          <p:cNvPr id="34" name="Text 32"/>
          <p:cNvSpPr/>
          <p:nvPr/>
        </p:nvSpPr>
        <p:spPr>
          <a:xfrm>
            <a:off x="7132320" y="4773168"/>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Session conversion model &amp; key drivers</a:t>
            </a:r>
            <a:endParaRPr lang="en-US" sz="1150" dirty="0"/>
          </a:p>
        </p:txBody>
      </p:sp>
      <p:sp>
        <p:nvSpPr>
          <p:cNvPr id="35" name="Shape 33"/>
          <p:cNvSpPr/>
          <p:nvPr/>
        </p:nvSpPr>
        <p:spPr>
          <a:xfrm>
            <a:off x="548640" y="5449824"/>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36" name="Shape 34"/>
          <p:cNvSpPr/>
          <p:nvPr/>
        </p:nvSpPr>
        <p:spPr>
          <a:xfrm>
            <a:off x="749808" y="5737860"/>
            <a:ext cx="457200" cy="457200"/>
          </a:xfrm>
          <a:prstGeom prst="ellipse">
            <a:avLst/>
          </a:prstGeom>
          <a:solidFill>
            <a:srgbClr val="0B1F3A"/>
          </a:solidFill>
          <a:ln/>
        </p:spPr>
      </p:sp>
      <p:sp>
        <p:nvSpPr>
          <p:cNvPr id="37" name="Text 35"/>
          <p:cNvSpPr/>
          <p:nvPr/>
        </p:nvSpPr>
        <p:spPr>
          <a:xfrm>
            <a:off x="749808" y="57378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38" name="Text 36"/>
          <p:cNvSpPr/>
          <p:nvPr/>
        </p:nvSpPr>
        <p:spPr>
          <a:xfrm>
            <a:off x="1417320" y="5568696"/>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Power BI Dashboards</a:t>
            </a:r>
            <a:endParaRPr lang="en-US" sz="1450" dirty="0"/>
          </a:p>
        </p:txBody>
      </p:sp>
      <p:sp>
        <p:nvSpPr>
          <p:cNvPr id="39" name="Text 37"/>
          <p:cNvSpPr/>
          <p:nvPr/>
        </p:nvSpPr>
        <p:spPr>
          <a:xfrm>
            <a:off x="1417320" y="5934456"/>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Executive-ready visual reporting</a:t>
            </a:r>
            <a:endParaRPr lang="en-US" sz="1150" dirty="0"/>
          </a:p>
        </p:txBody>
      </p:sp>
      <p:sp>
        <p:nvSpPr>
          <p:cNvPr id="40" name="Shape 38"/>
          <p:cNvSpPr/>
          <p:nvPr/>
        </p:nvSpPr>
        <p:spPr>
          <a:xfrm>
            <a:off x="6263640" y="5449824"/>
            <a:ext cx="5349240" cy="1033272"/>
          </a:xfrm>
          <a:prstGeom prst="roundRect">
            <a:avLst>
              <a:gd name="adj" fmla="val 796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41" name="Shape 39"/>
          <p:cNvSpPr/>
          <p:nvPr/>
        </p:nvSpPr>
        <p:spPr>
          <a:xfrm>
            <a:off x="6464808" y="5737860"/>
            <a:ext cx="457200" cy="457200"/>
          </a:xfrm>
          <a:prstGeom prst="ellipse">
            <a:avLst/>
          </a:prstGeom>
          <a:solidFill>
            <a:srgbClr val="0B1F3A"/>
          </a:solidFill>
          <a:ln/>
        </p:spPr>
      </p:sp>
      <p:sp>
        <p:nvSpPr>
          <p:cNvPr id="42" name="Text 40"/>
          <p:cNvSpPr/>
          <p:nvPr/>
        </p:nvSpPr>
        <p:spPr>
          <a:xfrm>
            <a:off x="6464808" y="57378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08</a:t>
            </a:r>
            <a:endParaRPr lang="en-US" sz="1600" dirty="0"/>
          </a:p>
        </p:txBody>
      </p:sp>
      <p:sp>
        <p:nvSpPr>
          <p:cNvPr id="43" name="Text 41"/>
          <p:cNvSpPr/>
          <p:nvPr/>
        </p:nvSpPr>
        <p:spPr>
          <a:xfrm>
            <a:off x="7132320" y="5568696"/>
            <a:ext cx="43434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Findings, Recommendations &amp; Conclusion</a:t>
            </a:r>
            <a:endParaRPr lang="en-US" sz="1450" dirty="0"/>
          </a:p>
        </p:txBody>
      </p:sp>
      <p:sp>
        <p:nvSpPr>
          <p:cNvPr id="44" name="Text 42"/>
          <p:cNvSpPr/>
          <p:nvPr/>
        </p:nvSpPr>
        <p:spPr>
          <a:xfrm>
            <a:off x="7132320" y="5934456"/>
            <a:ext cx="4343400" cy="457200"/>
          </a:xfrm>
          <a:prstGeom prst="rect">
            <a:avLst/>
          </a:prstGeom>
          <a:noFill/>
          <a:ln/>
        </p:spPr>
        <p:txBody>
          <a:bodyPr wrap="square" lIns="0" tIns="0" rIns="0" bIns="0" rtlCol="0" anchor="ctr"/>
          <a:lstStyle/>
          <a:p>
            <a:pPr marL="0" indent="0">
              <a:buNone/>
            </a:pPr>
            <a:r>
              <a:rPr lang="en-US" sz="1150" dirty="0">
                <a:solidFill>
                  <a:srgbClr val="5B6A82"/>
                </a:solidFill>
                <a:latin typeface="Calibri" pitchFamily="34" charset="0"/>
                <a:ea typeface="Calibri" pitchFamily="34" charset="-122"/>
                <a:cs typeface="Calibri" pitchFamily="34" charset="-120"/>
              </a:rPr>
              <a:t>What we learned and what to do next</a:t>
            </a:r>
            <a:endParaRPr lang="en-US" sz="1150" dirty="0"/>
          </a:p>
        </p:txBody>
      </p:sp>
      <p:sp>
        <p:nvSpPr>
          <p:cNvPr id="45" name="Text 43"/>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46" name="Text 44"/>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569464" cy="292608"/>
          </a:xfrm>
          <a:prstGeom prst="roundRect">
            <a:avLst>
              <a:gd name="adj" fmla="val 25000"/>
            </a:avLst>
          </a:prstGeom>
          <a:solidFill>
            <a:srgbClr val="F2B134"/>
          </a:solidFill>
          <a:ln/>
        </p:spPr>
      </p:sp>
      <p:sp>
        <p:nvSpPr>
          <p:cNvPr id="3" name="Text 1"/>
          <p:cNvSpPr/>
          <p:nvPr/>
        </p:nvSpPr>
        <p:spPr>
          <a:xfrm>
            <a:off x="502920" y="384048"/>
            <a:ext cx="2569464"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BUSINESS UNDERSTANDING</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Business Context &amp; Problem Statement</a:t>
            </a:r>
            <a:endParaRPr lang="en-US" sz="3000" dirty="0"/>
          </a:p>
        </p:txBody>
      </p:sp>
      <p:sp>
        <p:nvSpPr>
          <p:cNvPr id="5" name="Shape 3"/>
          <p:cNvSpPr/>
          <p:nvPr/>
        </p:nvSpPr>
        <p:spPr>
          <a:xfrm>
            <a:off x="548640" y="1874520"/>
            <a:ext cx="6949440" cy="4343400"/>
          </a:xfrm>
          <a:prstGeom prst="roundRect">
            <a:avLst>
              <a:gd name="adj" fmla="val 189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6" name="Text 4"/>
          <p:cNvSpPr/>
          <p:nvPr/>
        </p:nvSpPr>
        <p:spPr>
          <a:xfrm>
            <a:off x="868680" y="2103120"/>
            <a:ext cx="6309360" cy="32004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Context</a:t>
            </a:r>
            <a:endParaRPr lang="en-US" sz="1500" dirty="0"/>
          </a:p>
        </p:txBody>
      </p:sp>
      <p:sp>
        <p:nvSpPr>
          <p:cNvPr id="7" name="Text 5"/>
          <p:cNvSpPr/>
          <p:nvPr/>
        </p:nvSpPr>
        <p:spPr>
          <a:xfrm>
            <a:off x="868680" y="2450592"/>
            <a:ext cx="6309360" cy="1051560"/>
          </a:xfrm>
          <a:prstGeom prst="rect">
            <a:avLst/>
          </a:prstGeom>
          <a:noFill/>
          <a:ln/>
        </p:spPr>
        <p:txBody>
          <a:bodyPr wrap="square" lIns="0" tIns="0" rIns="0" bIns="0" rtlCol="0" anchor="ctr"/>
          <a:lstStyle/>
          <a:p>
            <a:pPr marL="0" indent="0">
              <a:lnSpc>
                <a:spcPct val="125000"/>
              </a:lnSpc>
              <a:buNone/>
            </a:pPr>
            <a:r>
              <a:rPr lang="en-US" sz="1250" dirty="0">
                <a:solidFill>
                  <a:srgbClr val="16233B"/>
                </a:solidFill>
                <a:latin typeface="Calibri" pitchFamily="34" charset="0"/>
                <a:ea typeface="Calibri" pitchFamily="34" charset="-122"/>
                <a:cs typeface="Calibri" pitchFamily="34" charset="-120"/>
              </a:rPr>
              <a:t>PRP operates an online store selling a small catalogue of gift and novelty products (e.g. “The Original Mr. Fuzzy”). The business tracks every website session, order, product line item and refund, but this data has never been consolidated into a single source of truth or turned into a decision-ready reporting layer.</a:t>
            </a:r>
            <a:endParaRPr lang="en-US" sz="1250" dirty="0"/>
          </a:p>
        </p:txBody>
      </p:sp>
      <p:sp>
        <p:nvSpPr>
          <p:cNvPr id="8" name="Text 6"/>
          <p:cNvSpPr/>
          <p:nvPr/>
        </p:nvSpPr>
        <p:spPr>
          <a:xfrm>
            <a:off x="868680" y="3611880"/>
            <a:ext cx="6309360" cy="292608"/>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Problem Statement</a:t>
            </a:r>
            <a:endParaRPr lang="en-US" sz="1500" dirty="0"/>
          </a:p>
        </p:txBody>
      </p:sp>
      <p:sp>
        <p:nvSpPr>
          <p:cNvPr id="9" name="Text 7"/>
          <p:cNvSpPr/>
          <p:nvPr/>
        </p:nvSpPr>
        <p:spPr>
          <a:xfrm>
            <a:off x="868680" y="3858768"/>
            <a:ext cx="6309360" cy="21945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6233B"/>
                </a:solidFill>
                <a:latin typeface="Calibri" pitchFamily="34" charset="0"/>
                <a:ea typeface="Calibri" pitchFamily="34" charset="-122"/>
                <a:cs typeface="Calibri" pitchFamily="34" charset="-120"/>
              </a:rPr>
              <a:t>Leadership cannot see revenue, margin and refund performance in one place.</a:t>
            </a:r>
            <a:endParaRPr lang="en-US" sz="1250" dirty="0"/>
          </a:p>
          <a:p>
            <a:pPr marL="342900" indent="-342900">
              <a:spcAft>
                <a:spcPts val="800"/>
              </a:spcAft>
              <a:buSzPct val="100000"/>
              <a:buChar char="•"/>
            </a:pPr>
            <a:r>
              <a:rPr lang="en-US" sz="1250" dirty="0">
                <a:solidFill>
                  <a:srgbClr val="16233B"/>
                </a:solidFill>
                <a:latin typeface="Calibri" pitchFamily="34" charset="0"/>
                <a:ea typeface="Calibri" pitchFamily="34" charset="-122"/>
                <a:cs typeface="Calibri" pitchFamily="34" charset="-120"/>
              </a:rPr>
              <a:t>It is unclear which marketing channels and devices actually convert profitably.</a:t>
            </a:r>
            <a:endParaRPr lang="en-US" sz="1250" dirty="0"/>
          </a:p>
          <a:p>
            <a:pPr marL="342900" indent="-342900">
              <a:spcAft>
                <a:spcPts val="800"/>
              </a:spcAft>
              <a:buSzPct val="100000"/>
              <a:buChar char="•"/>
            </a:pPr>
            <a:r>
              <a:rPr lang="en-US" sz="1250" dirty="0">
                <a:solidFill>
                  <a:srgbClr val="16233B"/>
                </a:solidFill>
                <a:latin typeface="Calibri" pitchFamily="34" charset="0"/>
                <a:ea typeface="Calibri" pitchFamily="34" charset="-122"/>
                <a:cs typeface="Calibri" pitchFamily="34" charset="-120"/>
              </a:rPr>
              <a:t>Refunds and margin erosion by product are not systematically investigated.</a:t>
            </a:r>
            <a:endParaRPr lang="en-US" sz="1250" dirty="0"/>
          </a:p>
          <a:p>
            <a:pPr marL="342900" indent="-342900">
              <a:spcAft>
                <a:spcPts val="800"/>
              </a:spcAft>
              <a:buSzPct val="100000"/>
              <a:buChar char="•"/>
            </a:pPr>
            <a:r>
              <a:rPr lang="en-US" sz="1250" dirty="0">
                <a:solidFill>
                  <a:srgbClr val="16233B"/>
                </a:solidFill>
                <a:latin typeface="Calibri" pitchFamily="34" charset="0"/>
                <a:ea typeface="Calibri" pitchFamily="34" charset="-122"/>
                <a:cs typeface="Calibri" pitchFamily="34" charset="-120"/>
              </a:rPr>
              <a:t>There is no data-driven way to flag sessions likely (or unlikely) to convert.</a:t>
            </a:r>
            <a:endParaRPr lang="en-US" sz="1250" dirty="0"/>
          </a:p>
        </p:txBody>
      </p:sp>
      <p:sp>
        <p:nvSpPr>
          <p:cNvPr id="10" name="Shape 8"/>
          <p:cNvSpPr/>
          <p:nvPr/>
        </p:nvSpPr>
        <p:spPr>
          <a:xfrm>
            <a:off x="7726680" y="1874520"/>
            <a:ext cx="3913632" cy="4343400"/>
          </a:xfrm>
          <a:prstGeom prst="roundRect">
            <a:avLst>
              <a:gd name="adj" fmla="val 2103"/>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11" name="Text 9"/>
          <p:cNvSpPr/>
          <p:nvPr/>
        </p:nvSpPr>
        <p:spPr>
          <a:xfrm>
            <a:off x="8001000" y="2103120"/>
            <a:ext cx="3383280" cy="548640"/>
          </a:xfrm>
          <a:prstGeom prst="rect">
            <a:avLst/>
          </a:prstGeom>
          <a:noFill/>
          <a:ln/>
        </p:spPr>
        <p:txBody>
          <a:bodyPr wrap="square" lIns="0" tIns="0" rIns="0" bIns="0" rtlCol="0" anchor="ctr"/>
          <a:lstStyle/>
          <a:p>
            <a:pPr marL="0" indent="0">
              <a:buNone/>
            </a:pPr>
            <a:r>
              <a:rPr lang="en-US" sz="1450" b="1" dirty="0">
                <a:solidFill>
                  <a:srgbClr val="F2B134"/>
                </a:solidFill>
                <a:latin typeface="Calibri" pitchFamily="34" charset="0"/>
                <a:ea typeface="Calibri" pitchFamily="34" charset="-122"/>
                <a:cs typeface="Calibri" pitchFamily="34" charset="-120"/>
              </a:rPr>
              <a:t>What Success Looks Like</a:t>
            </a:r>
            <a:endParaRPr lang="en-US" sz="1450" dirty="0"/>
          </a:p>
        </p:txBody>
      </p:sp>
      <p:sp>
        <p:nvSpPr>
          <p:cNvPr id="12" name="Text 10"/>
          <p:cNvSpPr/>
          <p:nvPr/>
        </p:nvSpPr>
        <p:spPr>
          <a:xfrm>
            <a:off x="8001000" y="2606040"/>
            <a:ext cx="3429000" cy="3474720"/>
          </a:xfrm>
          <a:prstGeom prst="rect">
            <a:avLst/>
          </a:prstGeom>
          <a:noFill/>
          <a:ln/>
        </p:spPr>
        <p:txBody>
          <a:bodyPr wrap="square" lIns="0" tIns="0" rIns="0" bIns="0" rtlCol="0" anchor="ctr"/>
          <a:lstStyle/>
          <a:p>
            <a:pPr marL="342900" indent="-342900">
              <a:spcAft>
                <a:spcPts val="1200"/>
              </a:spcAft>
              <a:buSzPct val="100000"/>
              <a:buChar char="➤"/>
            </a:pPr>
            <a:r>
              <a:rPr lang="en-US" sz="1200" dirty="0">
                <a:solidFill>
                  <a:srgbClr val="E6ECF7"/>
                </a:solidFill>
                <a:latin typeface="Calibri" pitchFamily="34" charset="0"/>
                <a:ea typeface="Calibri" pitchFamily="34" charset="-122"/>
                <a:cs typeface="Calibri" pitchFamily="34" charset="-120"/>
              </a:rPr>
              <a:t>One clean SQL Server model behind every number</a:t>
            </a:r>
            <a:endParaRPr lang="en-US" sz="1200" dirty="0"/>
          </a:p>
          <a:p>
            <a:pPr marL="342900" indent="-342900">
              <a:spcAft>
                <a:spcPts val="1200"/>
              </a:spcAft>
              <a:buSzPct val="100000"/>
              <a:buChar char="➤"/>
            </a:pPr>
            <a:r>
              <a:rPr lang="en-US" sz="1200" dirty="0">
                <a:solidFill>
                  <a:srgbClr val="E6ECF7"/>
                </a:solidFill>
                <a:latin typeface="Calibri" pitchFamily="34" charset="0"/>
                <a:ea typeface="Calibri" pitchFamily="34" charset="-122"/>
                <a:cs typeface="Calibri" pitchFamily="34" charset="-120"/>
              </a:rPr>
              <a:t>Self-serve Power BI dashboards for execs &amp; marketing</a:t>
            </a:r>
            <a:endParaRPr lang="en-US" sz="1200" dirty="0"/>
          </a:p>
          <a:p>
            <a:pPr marL="342900" indent="-342900">
              <a:spcAft>
                <a:spcPts val="1200"/>
              </a:spcAft>
              <a:buSzPct val="100000"/>
              <a:buChar char="➤"/>
            </a:pPr>
            <a:r>
              <a:rPr lang="en-US" sz="1200" dirty="0">
                <a:solidFill>
                  <a:srgbClr val="E6ECF7"/>
                </a:solidFill>
                <a:latin typeface="Calibri" pitchFamily="34" charset="0"/>
                <a:ea typeface="Calibri" pitchFamily="34" charset="-122"/>
                <a:cs typeface="Calibri" pitchFamily="34" charset="-120"/>
              </a:rPr>
              <a:t>A documented, repeatable EDA + diagnostic process</a:t>
            </a:r>
            <a:endParaRPr lang="en-US" sz="1200" dirty="0"/>
          </a:p>
          <a:p>
            <a:pPr marL="342900" indent="-342900">
              <a:spcAft>
                <a:spcPts val="1200"/>
              </a:spcAft>
              <a:buSzPct val="100000"/>
              <a:buChar char="➤"/>
            </a:pPr>
            <a:r>
              <a:rPr lang="en-US" sz="1200" dirty="0">
                <a:solidFill>
                  <a:srgbClr val="E6ECF7"/>
                </a:solidFill>
                <a:latin typeface="Calibri" pitchFamily="34" charset="0"/>
                <a:ea typeface="Calibri" pitchFamily="34" charset="-122"/>
                <a:cs typeface="Calibri" pitchFamily="34" charset="-120"/>
              </a:rPr>
              <a:t>A predictive model that flags conversion likelihood</a:t>
            </a:r>
            <a:endParaRPr lang="en-US" sz="1200" dirty="0"/>
          </a:p>
          <a:p>
            <a:pPr marL="342900" indent="-342900">
              <a:spcAft>
                <a:spcPts val="1200"/>
              </a:spcAft>
              <a:buSzPct val="100000"/>
              <a:buChar char="➤"/>
            </a:pPr>
            <a:r>
              <a:rPr lang="en-US" sz="1200" dirty="0">
                <a:solidFill>
                  <a:srgbClr val="E6ECF7"/>
                </a:solidFill>
                <a:latin typeface="Calibri" pitchFamily="34" charset="0"/>
                <a:ea typeface="Calibri" pitchFamily="34" charset="-122"/>
                <a:cs typeface="Calibri" pitchFamily="34" charset="-120"/>
              </a:rPr>
              <a:t>Clear, prioritised business recommendations</a:t>
            </a:r>
            <a:endParaRPr lang="en-US" sz="1200" dirty="0"/>
          </a:p>
        </p:txBody>
      </p:sp>
      <p:sp>
        <p:nvSpPr>
          <p:cNvPr id="13" name="Text 11"/>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14" name="Text 12"/>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665476" cy="292608"/>
          </a:xfrm>
          <a:prstGeom prst="roundRect">
            <a:avLst>
              <a:gd name="adj" fmla="val 25000"/>
            </a:avLst>
          </a:prstGeom>
          <a:solidFill>
            <a:srgbClr val="F2B134"/>
          </a:solidFill>
          <a:ln/>
        </p:spPr>
      </p:sp>
      <p:sp>
        <p:nvSpPr>
          <p:cNvPr id="3" name="Text 1"/>
          <p:cNvSpPr/>
          <p:nvPr/>
        </p:nvSpPr>
        <p:spPr>
          <a:xfrm>
            <a:off x="502920" y="384048"/>
            <a:ext cx="2665476"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OBJECTIVES &amp; TECH STACK</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Project Objectives &amp; Technology Stack</a:t>
            </a:r>
            <a:endParaRPr lang="en-US" sz="3000" dirty="0"/>
          </a:p>
        </p:txBody>
      </p:sp>
      <p:sp>
        <p:nvSpPr>
          <p:cNvPr id="5" name="Text 3"/>
          <p:cNvSpPr/>
          <p:nvPr/>
        </p:nvSpPr>
        <p:spPr>
          <a:xfrm>
            <a:off x="548640" y="1828800"/>
            <a:ext cx="5486400" cy="32004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Objectives</a:t>
            </a:r>
            <a:endParaRPr lang="en-US" sz="1500" dirty="0"/>
          </a:p>
        </p:txBody>
      </p:sp>
      <p:sp>
        <p:nvSpPr>
          <p:cNvPr id="6" name="Shape 4"/>
          <p:cNvSpPr/>
          <p:nvPr/>
        </p:nvSpPr>
        <p:spPr>
          <a:xfrm>
            <a:off x="548640" y="2212848"/>
            <a:ext cx="5532120" cy="512064"/>
          </a:xfrm>
          <a:prstGeom prst="roundRect">
            <a:avLst>
              <a:gd name="adj" fmla="val 16071"/>
            </a:avLst>
          </a:prstGeom>
          <a:solidFill>
            <a:srgbClr val="FFFFFF"/>
          </a:solidFill>
          <a:ln w="12700">
            <a:solidFill>
              <a:srgbClr val="E1E6EF"/>
            </a:solidFill>
            <a:prstDash val="solid"/>
          </a:ln>
        </p:spPr>
      </p:sp>
      <p:sp>
        <p:nvSpPr>
          <p:cNvPr id="7" name="Shape 5"/>
          <p:cNvSpPr/>
          <p:nvPr/>
        </p:nvSpPr>
        <p:spPr>
          <a:xfrm>
            <a:off x="685800" y="2240280"/>
            <a:ext cx="457200" cy="457200"/>
          </a:xfrm>
          <a:prstGeom prst="ellipse">
            <a:avLst/>
          </a:prstGeom>
          <a:solidFill>
            <a:srgbClr val="1C7293"/>
          </a:solidFill>
          <a:ln/>
        </p:spPr>
      </p:sp>
      <p:sp>
        <p:nvSpPr>
          <p:cNvPr id="8" name="Text 6"/>
          <p:cNvSpPr/>
          <p:nvPr/>
        </p:nvSpPr>
        <p:spPr>
          <a:xfrm>
            <a:off x="685800" y="22402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280160" y="2212848"/>
            <a:ext cx="4709160" cy="512064"/>
          </a:xfrm>
          <a:prstGeom prst="rect">
            <a:avLst/>
          </a:prstGeom>
          <a:noFill/>
          <a:ln/>
        </p:spPr>
        <p:txBody>
          <a:bodyPr wrap="square" lIns="0" tIns="0" rIns="0" bIns="0" rtlCol="0" anchor="ctr"/>
          <a:lstStyle/>
          <a:p>
            <a:pPr marL="0" indent="0">
              <a:buNone/>
            </a:pPr>
            <a:r>
              <a:rPr lang="en-US" sz="1150" dirty="0">
                <a:solidFill>
                  <a:srgbClr val="16233B"/>
                </a:solidFill>
                <a:latin typeface="Calibri" pitchFamily="34" charset="0"/>
                <a:ea typeface="Calibri" pitchFamily="34" charset="-122"/>
                <a:cs typeface="Calibri" pitchFamily="34" charset="-120"/>
              </a:rPr>
              <a:t>Build a validated, single source of truth in SQL Server</a:t>
            </a:r>
            <a:endParaRPr lang="en-US" sz="1150" dirty="0"/>
          </a:p>
        </p:txBody>
      </p:sp>
      <p:sp>
        <p:nvSpPr>
          <p:cNvPr id="10" name="Shape 8"/>
          <p:cNvSpPr/>
          <p:nvPr/>
        </p:nvSpPr>
        <p:spPr>
          <a:xfrm>
            <a:off x="548640" y="2816352"/>
            <a:ext cx="5532120" cy="512064"/>
          </a:xfrm>
          <a:prstGeom prst="roundRect">
            <a:avLst>
              <a:gd name="adj" fmla="val 16071"/>
            </a:avLst>
          </a:prstGeom>
          <a:solidFill>
            <a:srgbClr val="FFFFFF"/>
          </a:solidFill>
          <a:ln w="12700">
            <a:solidFill>
              <a:srgbClr val="E1E6EF"/>
            </a:solidFill>
            <a:prstDash val="solid"/>
          </a:ln>
        </p:spPr>
      </p:sp>
      <p:sp>
        <p:nvSpPr>
          <p:cNvPr id="11" name="Shape 9"/>
          <p:cNvSpPr/>
          <p:nvPr/>
        </p:nvSpPr>
        <p:spPr>
          <a:xfrm>
            <a:off x="685800" y="2843784"/>
            <a:ext cx="457200" cy="457200"/>
          </a:xfrm>
          <a:prstGeom prst="ellipse">
            <a:avLst/>
          </a:prstGeom>
          <a:solidFill>
            <a:srgbClr val="1C7293"/>
          </a:solidFill>
          <a:ln/>
        </p:spPr>
      </p:sp>
      <p:sp>
        <p:nvSpPr>
          <p:cNvPr id="12" name="Text 10"/>
          <p:cNvSpPr/>
          <p:nvPr/>
        </p:nvSpPr>
        <p:spPr>
          <a:xfrm>
            <a:off x="685800" y="284378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280160" y="2816352"/>
            <a:ext cx="4709160" cy="512064"/>
          </a:xfrm>
          <a:prstGeom prst="rect">
            <a:avLst/>
          </a:prstGeom>
          <a:noFill/>
          <a:ln/>
        </p:spPr>
        <p:txBody>
          <a:bodyPr wrap="square" lIns="0" tIns="0" rIns="0" bIns="0" rtlCol="0" anchor="ctr"/>
          <a:lstStyle/>
          <a:p>
            <a:pPr marL="0" indent="0">
              <a:buNone/>
            </a:pPr>
            <a:r>
              <a:rPr lang="en-US" sz="1150" dirty="0">
                <a:solidFill>
                  <a:srgbClr val="16233B"/>
                </a:solidFill>
                <a:latin typeface="Calibri" pitchFamily="34" charset="0"/>
                <a:ea typeface="Calibri" pitchFamily="34" charset="-122"/>
                <a:cs typeface="Calibri" pitchFamily="34" charset="-120"/>
              </a:rPr>
              <a:t>Deliver descriptive &amp; diagnostic analysis of sales, marketing, product and refund performance</a:t>
            </a:r>
            <a:endParaRPr lang="en-US" sz="1150" dirty="0"/>
          </a:p>
        </p:txBody>
      </p:sp>
      <p:sp>
        <p:nvSpPr>
          <p:cNvPr id="14" name="Shape 12"/>
          <p:cNvSpPr/>
          <p:nvPr/>
        </p:nvSpPr>
        <p:spPr>
          <a:xfrm>
            <a:off x="548640" y="3419856"/>
            <a:ext cx="5532120" cy="512064"/>
          </a:xfrm>
          <a:prstGeom prst="roundRect">
            <a:avLst>
              <a:gd name="adj" fmla="val 16071"/>
            </a:avLst>
          </a:prstGeom>
          <a:solidFill>
            <a:srgbClr val="FFFFFF"/>
          </a:solidFill>
          <a:ln w="12700">
            <a:solidFill>
              <a:srgbClr val="E1E6EF"/>
            </a:solidFill>
            <a:prstDash val="solid"/>
          </a:ln>
        </p:spPr>
      </p:sp>
      <p:sp>
        <p:nvSpPr>
          <p:cNvPr id="15" name="Shape 13"/>
          <p:cNvSpPr/>
          <p:nvPr/>
        </p:nvSpPr>
        <p:spPr>
          <a:xfrm>
            <a:off x="685800" y="3447288"/>
            <a:ext cx="457200" cy="457200"/>
          </a:xfrm>
          <a:prstGeom prst="ellipse">
            <a:avLst/>
          </a:prstGeom>
          <a:solidFill>
            <a:srgbClr val="1C7293"/>
          </a:solidFill>
          <a:ln/>
        </p:spPr>
      </p:sp>
      <p:sp>
        <p:nvSpPr>
          <p:cNvPr id="16" name="Text 14"/>
          <p:cNvSpPr/>
          <p:nvPr/>
        </p:nvSpPr>
        <p:spPr>
          <a:xfrm>
            <a:off x="685800" y="34472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280160" y="3419856"/>
            <a:ext cx="4709160" cy="512064"/>
          </a:xfrm>
          <a:prstGeom prst="rect">
            <a:avLst/>
          </a:prstGeom>
          <a:noFill/>
          <a:ln/>
        </p:spPr>
        <p:txBody>
          <a:bodyPr wrap="square" lIns="0" tIns="0" rIns="0" bIns="0" rtlCol="0" anchor="ctr"/>
          <a:lstStyle/>
          <a:p>
            <a:pPr marL="0" indent="0">
              <a:buNone/>
            </a:pPr>
            <a:r>
              <a:rPr lang="en-US" sz="1150" dirty="0">
                <a:solidFill>
                  <a:srgbClr val="16233B"/>
                </a:solidFill>
                <a:latin typeface="Calibri" pitchFamily="34" charset="0"/>
                <a:ea typeface="Calibri" pitchFamily="34" charset="-122"/>
                <a:cs typeface="Calibri" pitchFamily="34" charset="-120"/>
              </a:rPr>
              <a:t>Design and build Power BI dashboards for ongoing self-serve reporting</a:t>
            </a:r>
            <a:endParaRPr lang="en-US" sz="1150" dirty="0"/>
          </a:p>
        </p:txBody>
      </p:sp>
      <p:sp>
        <p:nvSpPr>
          <p:cNvPr id="18" name="Shape 16"/>
          <p:cNvSpPr/>
          <p:nvPr/>
        </p:nvSpPr>
        <p:spPr>
          <a:xfrm>
            <a:off x="548640" y="4023360"/>
            <a:ext cx="5532120" cy="512064"/>
          </a:xfrm>
          <a:prstGeom prst="roundRect">
            <a:avLst>
              <a:gd name="adj" fmla="val 16071"/>
            </a:avLst>
          </a:prstGeom>
          <a:solidFill>
            <a:srgbClr val="FFFFFF"/>
          </a:solidFill>
          <a:ln w="12700">
            <a:solidFill>
              <a:srgbClr val="E1E6EF"/>
            </a:solidFill>
            <a:prstDash val="solid"/>
          </a:ln>
        </p:spPr>
      </p:sp>
      <p:sp>
        <p:nvSpPr>
          <p:cNvPr id="19" name="Shape 17"/>
          <p:cNvSpPr/>
          <p:nvPr/>
        </p:nvSpPr>
        <p:spPr>
          <a:xfrm>
            <a:off x="685800" y="4050792"/>
            <a:ext cx="457200" cy="457200"/>
          </a:xfrm>
          <a:prstGeom prst="ellipse">
            <a:avLst/>
          </a:prstGeom>
          <a:solidFill>
            <a:srgbClr val="1C7293"/>
          </a:solidFill>
          <a:ln/>
        </p:spPr>
      </p:sp>
      <p:sp>
        <p:nvSpPr>
          <p:cNvPr id="20" name="Text 18"/>
          <p:cNvSpPr/>
          <p:nvPr/>
        </p:nvSpPr>
        <p:spPr>
          <a:xfrm>
            <a:off x="685800" y="40507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280160" y="4023360"/>
            <a:ext cx="4709160" cy="512064"/>
          </a:xfrm>
          <a:prstGeom prst="rect">
            <a:avLst/>
          </a:prstGeom>
          <a:noFill/>
          <a:ln/>
        </p:spPr>
        <p:txBody>
          <a:bodyPr wrap="square" lIns="0" tIns="0" rIns="0" bIns="0" rtlCol="0" anchor="ctr"/>
          <a:lstStyle/>
          <a:p>
            <a:pPr marL="0" indent="0">
              <a:buNone/>
            </a:pPr>
            <a:r>
              <a:rPr lang="en-US" sz="1150" dirty="0">
                <a:solidFill>
                  <a:srgbClr val="16233B"/>
                </a:solidFill>
                <a:latin typeface="Calibri" pitchFamily="34" charset="0"/>
                <a:ea typeface="Calibri" pitchFamily="34" charset="-122"/>
                <a:cs typeface="Calibri" pitchFamily="34" charset="-120"/>
              </a:rPr>
              <a:t>Develop a predictive (logistic regression) model for session conversion</a:t>
            </a:r>
            <a:endParaRPr lang="en-US" sz="1150" dirty="0"/>
          </a:p>
        </p:txBody>
      </p:sp>
      <p:sp>
        <p:nvSpPr>
          <p:cNvPr id="22" name="Shape 20"/>
          <p:cNvSpPr/>
          <p:nvPr/>
        </p:nvSpPr>
        <p:spPr>
          <a:xfrm>
            <a:off x="548640" y="4626864"/>
            <a:ext cx="5532120" cy="512064"/>
          </a:xfrm>
          <a:prstGeom prst="roundRect">
            <a:avLst>
              <a:gd name="adj" fmla="val 16071"/>
            </a:avLst>
          </a:prstGeom>
          <a:solidFill>
            <a:srgbClr val="FFFFFF"/>
          </a:solidFill>
          <a:ln w="12700">
            <a:solidFill>
              <a:srgbClr val="E1E6EF"/>
            </a:solidFill>
            <a:prstDash val="solid"/>
          </a:ln>
        </p:spPr>
      </p:sp>
      <p:sp>
        <p:nvSpPr>
          <p:cNvPr id="23" name="Shape 21"/>
          <p:cNvSpPr/>
          <p:nvPr/>
        </p:nvSpPr>
        <p:spPr>
          <a:xfrm>
            <a:off x="685800" y="4654296"/>
            <a:ext cx="457200" cy="457200"/>
          </a:xfrm>
          <a:prstGeom prst="ellipse">
            <a:avLst/>
          </a:prstGeom>
          <a:solidFill>
            <a:srgbClr val="1C7293"/>
          </a:solidFill>
          <a:ln/>
        </p:spPr>
      </p:sp>
      <p:sp>
        <p:nvSpPr>
          <p:cNvPr id="24" name="Text 22"/>
          <p:cNvSpPr/>
          <p:nvPr/>
        </p:nvSpPr>
        <p:spPr>
          <a:xfrm>
            <a:off x="685800" y="46542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5" name="Text 23"/>
          <p:cNvSpPr/>
          <p:nvPr/>
        </p:nvSpPr>
        <p:spPr>
          <a:xfrm>
            <a:off x="1280160" y="4626864"/>
            <a:ext cx="4709160" cy="512064"/>
          </a:xfrm>
          <a:prstGeom prst="rect">
            <a:avLst/>
          </a:prstGeom>
          <a:noFill/>
          <a:ln/>
        </p:spPr>
        <p:txBody>
          <a:bodyPr wrap="square" lIns="0" tIns="0" rIns="0" bIns="0" rtlCol="0" anchor="ctr"/>
          <a:lstStyle/>
          <a:p>
            <a:pPr marL="0" indent="0">
              <a:buNone/>
            </a:pPr>
            <a:r>
              <a:rPr lang="en-US" sz="1150" dirty="0">
                <a:solidFill>
                  <a:srgbClr val="16233B"/>
                </a:solidFill>
                <a:latin typeface="Calibri" pitchFamily="34" charset="0"/>
                <a:ea typeface="Calibri" pitchFamily="34" charset="-122"/>
                <a:cs typeface="Calibri" pitchFamily="34" charset="-120"/>
              </a:rPr>
              <a:t>Translate analysis into prioritised, actionable business recommendations</a:t>
            </a:r>
            <a:endParaRPr lang="en-US" sz="1150" dirty="0"/>
          </a:p>
        </p:txBody>
      </p:sp>
      <p:sp>
        <p:nvSpPr>
          <p:cNvPr id="26" name="Text 24"/>
          <p:cNvSpPr/>
          <p:nvPr/>
        </p:nvSpPr>
        <p:spPr>
          <a:xfrm>
            <a:off x="6355080" y="1828800"/>
            <a:ext cx="5486400" cy="32004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Technology Stack</a:t>
            </a:r>
            <a:endParaRPr lang="en-US" sz="1500" dirty="0"/>
          </a:p>
        </p:txBody>
      </p:sp>
      <p:sp>
        <p:nvSpPr>
          <p:cNvPr id="27" name="Shape 25"/>
          <p:cNvSpPr/>
          <p:nvPr/>
        </p:nvSpPr>
        <p:spPr>
          <a:xfrm>
            <a:off x="6355080" y="2212848"/>
            <a:ext cx="5257800" cy="512064"/>
          </a:xfrm>
          <a:prstGeom prst="roundRect">
            <a:avLst>
              <a:gd name="adj" fmla="val 16071"/>
            </a:avLst>
          </a:prstGeom>
          <a:solidFill>
            <a:srgbClr val="EFF3FA"/>
          </a:solidFill>
          <a:ln w="12700">
            <a:solidFill>
              <a:srgbClr val="E1E6EF"/>
            </a:solidFill>
            <a:prstDash val="solid"/>
          </a:ln>
        </p:spPr>
      </p:sp>
      <p:sp>
        <p:nvSpPr>
          <p:cNvPr id="28" name="Shape 26"/>
          <p:cNvSpPr/>
          <p:nvPr/>
        </p:nvSpPr>
        <p:spPr>
          <a:xfrm>
            <a:off x="6492240" y="2313432"/>
            <a:ext cx="310896" cy="310896"/>
          </a:xfrm>
          <a:prstGeom prst="roundRect">
            <a:avLst>
              <a:gd name="adj" fmla="val 23529"/>
            </a:avLst>
          </a:prstGeom>
          <a:solidFill>
            <a:srgbClr val="F2B134"/>
          </a:solidFill>
          <a:ln/>
        </p:spPr>
      </p:sp>
      <p:sp>
        <p:nvSpPr>
          <p:cNvPr id="29" name="Text 27"/>
          <p:cNvSpPr/>
          <p:nvPr/>
        </p:nvSpPr>
        <p:spPr>
          <a:xfrm>
            <a:off x="6492240" y="2313432"/>
            <a:ext cx="310896" cy="310896"/>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1</a:t>
            </a:r>
            <a:endParaRPr lang="en-US" sz="1200" dirty="0"/>
          </a:p>
        </p:txBody>
      </p:sp>
      <p:sp>
        <p:nvSpPr>
          <p:cNvPr id="30" name="Text 28"/>
          <p:cNvSpPr/>
          <p:nvPr/>
        </p:nvSpPr>
        <p:spPr>
          <a:xfrm>
            <a:off x="6931152" y="2240280"/>
            <a:ext cx="452628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SQL Server</a:t>
            </a:r>
            <a:endParaRPr lang="en-US" sz="1200" dirty="0"/>
          </a:p>
        </p:txBody>
      </p:sp>
      <p:sp>
        <p:nvSpPr>
          <p:cNvPr id="31" name="Text 29"/>
          <p:cNvSpPr/>
          <p:nvPr/>
        </p:nvSpPr>
        <p:spPr>
          <a:xfrm>
            <a:off x="6931152" y="2468880"/>
            <a:ext cx="4526280" cy="246888"/>
          </a:xfrm>
          <a:prstGeom prst="rect">
            <a:avLst/>
          </a:prstGeom>
          <a:noFill/>
          <a:ln/>
        </p:spPr>
        <p:txBody>
          <a:bodyPr wrap="square" lIns="0" tIns="0" rIns="0" bIns="0" rtlCol="0" anchor="ctr"/>
          <a:lstStyle/>
          <a:p>
            <a:pPr marL="0" indent="0">
              <a:buNone/>
            </a:pPr>
            <a:r>
              <a:rPr lang="en-US" sz="980" dirty="0">
                <a:solidFill>
                  <a:srgbClr val="5B6A82"/>
                </a:solidFill>
                <a:latin typeface="Calibri" pitchFamily="34" charset="0"/>
                <a:ea typeface="Calibri" pitchFamily="34" charset="-122"/>
                <a:cs typeface="Calibri" pitchFamily="34" charset="-120"/>
              </a:rPr>
              <a:t>Data warehouse, cleaning views, KPI &amp; diagnostic queries</a:t>
            </a:r>
            <a:endParaRPr lang="en-US" sz="980" dirty="0"/>
          </a:p>
        </p:txBody>
      </p:sp>
      <p:sp>
        <p:nvSpPr>
          <p:cNvPr id="32" name="Shape 30"/>
          <p:cNvSpPr/>
          <p:nvPr/>
        </p:nvSpPr>
        <p:spPr>
          <a:xfrm>
            <a:off x="6355080" y="2816352"/>
            <a:ext cx="5257800" cy="512064"/>
          </a:xfrm>
          <a:prstGeom prst="roundRect">
            <a:avLst>
              <a:gd name="adj" fmla="val 16071"/>
            </a:avLst>
          </a:prstGeom>
          <a:solidFill>
            <a:srgbClr val="EFF3FA"/>
          </a:solidFill>
          <a:ln w="12700">
            <a:solidFill>
              <a:srgbClr val="E1E6EF"/>
            </a:solidFill>
            <a:prstDash val="solid"/>
          </a:ln>
        </p:spPr>
      </p:sp>
      <p:sp>
        <p:nvSpPr>
          <p:cNvPr id="33" name="Shape 31"/>
          <p:cNvSpPr/>
          <p:nvPr/>
        </p:nvSpPr>
        <p:spPr>
          <a:xfrm>
            <a:off x="6492240" y="2916936"/>
            <a:ext cx="310896" cy="310896"/>
          </a:xfrm>
          <a:prstGeom prst="roundRect">
            <a:avLst>
              <a:gd name="adj" fmla="val 23529"/>
            </a:avLst>
          </a:prstGeom>
          <a:solidFill>
            <a:srgbClr val="F2B134"/>
          </a:solidFill>
          <a:ln/>
        </p:spPr>
      </p:sp>
      <p:sp>
        <p:nvSpPr>
          <p:cNvPr id="34" name="Text 32"/>
          <p:cNvSpPr/>
          <p:nvPr/>
        </p:nvSpPr>
        <p:spPr>
          <a:xfrm>
            <a:off x="6492240" y="2916936"/>
            <a:ext cx="310896" cy="310896"/>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2</a:t>
            </a:r>
            <a:endParaRPr lang="en-US" sz="1200" dirty="0"/>
          </a:p>
        </p:txBody>
      </p:sp>
      <p:sp>
        <p:nvSpPr>
          <p:cNvPr id="35" name="Text 33"/>
          <p:cNvSpPr/>
          <p:nvPr/>
        </p:nvSpPr>
        <p:spPr>
          <a:xfrm>
            <a:off x="6931152" y="2843784"/>
            <a:ext cx="452628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Python (pandas, scikit-learn)</a:t>
            </a:r>
            <a:endParaRPr lang="en-US" sz="1200" dirty="0"/>
          </a:p>
        </p:txBody>
      </p:sp>
      <p:sp>
        <p:nvSpPr>
          <p:cNvPr id="36" name="Text 34"/>
          <p:cNvSpPr/>
          <p:nvPr/>
        </p:nvSpPr>
        <p:spPr>
          <a:xfrm>
            <a:off x="6931152" y="3072384"/>
            <a:ext cx="4526280" cy="246888"/>
          </a:xfrm>
          <a:prstGeom prst="rect">
            <a:avLst/>
          </a:prstGeom>
          <a:noFill/>
          <a:ln/>
        </p:spPr>
        <p:txBody>
          <a:bodyPr wrap="square" lIns="0" tIns="0" rIns="0" bIns="0" rtlCol="0" anchor="ctr"/>
          <a:lstStyle/>
          <a:p>
            <a:pPr marL="0" indent="0">
              <a:buNone/>
            </a:pPr>
            <a:r>
              <a:rPr lang="en-US" sz="980" dirty="0">
                <a:solidFill>
                  <a:srgbClr val="5B6A82"/>
                </a:solidFill>
                <a:latin typeface="Calibri" pitchFamily="34" charset="0"/>
                <a:ea typeface="Calibri" pitchFamily="34" charset="-122"/>
                <a:cs typeface="Calibri" pitchFamily="34" charset="-120"/>
              </a:rPr>
              <a:t>EDA, visualisation &amp; logistic regression modelling</a:t>
            </a:r>
            <a:endParaRPr lang="en-US" sz="980" dirty="0"/>
          </a:p>
        </p:txBody>
      </p:sp>
      <p:sp>
        <p:nvSpPr>
          <p:cNvPr id="37" name="Shape 35"/>
          <p:cNvSpPr/>
          <p:nvPr/>
        </p:nvSpPr>
        <p:spPr>
          <a:xfrm>
            <a:off x="6355080" y="3419856"/>
            <a:ext cx="5257800" cy="512064"/>
          </a:xfrm>
          <a:prstGeom prst="roundRect">
            <a:avLst>
              <a:gd name="adj" fmla="val 16071"/>
            </a:avLst>
          </a:prstGeom>
          <a:solidFill>
            <a:srgbClr val="EFF3FA"/>
          </a:solidFill>
          <a:ln w="12700">
            <a:solidFill>
              <a:srgbClr val="E1E6EF"/>
            </a:solidFill>
            <a:prstDash val="solid"/>
          </a:ln>
        </p:spPr>
      </p:sp>
      <p:sp>
        <p:nvSpPr>
          <p:cNvPr id="38" name="Shape 36"/>
          <p:cNvSpPr/>
          <p:nvPr/>
        </p:nvSpPr>
        <p:spPr>
          <a:xfrm>
            <a:off x="6492240" y="3520440"/>
            <a:ext cx="310896" cy="310896"/>
          </a:xfrm>
          <a:prstGeom prst="roundRect">
            <a:avLst>
              <a:gd name="adj" fmla="val 23529"/>
            </a:avLst>
          </a:prstGeom>
          <a:solidFill>
            <a:srgbClr val="F2B134"/>
          </a:solidFill>
          <a:ln/>
        </p:spPr>
      </p:sp>
      <p:sp>
        <p:nvSpPr>
          <p:cNvPr id="39" name="Text 37"/>
          <p:cNvSpPr/>
          <p:nvPr/>
        </p:nvSpPr>
        <p:spPr>
          <a:xfrm>
            <a:off x="6492240" y="3520440"/>
            <a:ext cx="310896" cy="310896"/>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3</a:t>
            </a:r>
            <a:endParaRPr lang="en-US" sz="1200" dirty="0"/>
          </a:p>
        </p:txBody>
      </p:sp>
      <p:sp>
        <p:nvSpPr>
          <p:cNvPr id="40" name="Text 38"/>
          <p:cNvSpPr/>
          <p:nvPr/>
        </p:nvSpPr>
        <p:spPr>
          <a:xfrm>
            <a:off x="6931152" y="3447288"/>
            <a:ext cx="452628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Jupyter Notebook</a:t>
            </a:r>
            <a:endParaRPr lang="en-US" sz="1200" dirty="0"/>
          </a:p>
        </p:txBody>
      </p:sp>
      <p:sp>
        <p:nvSpPr>
          <p:cNvPr id="41" name="Text 39"/>
          <p:cNvSpPr/>
          <p:nvPr/>
        </p:nvSpPr>
        <p:spPr>
          <a:xfrm>
            <a:off x="6931152" y="3675888"/>
            <a:ext cx="4526280" cy="246888"/>
          </a:xfrm>
          <a:prstGeom prst="rect">
            <a:avLst/>
          </a:prstGeom>
          <a:noFill/>
          <a:ln/>
        </p:spPr>
        <p:txBody>
          <a:bodyPr wrap="square" lIns="0" tIns="0" rIns="0" bIns="0" rtlCol="0" anchor="ctr"/>
          <a:lstStyle/>
          <a:p>
            <a:pPr marL="0" indent="0">
              <a:buNone/>
            </a:pPr>
            <a:r>
              <a:rPr lang="en-US" sz="980" dirty="0">
                <a:solidFill>
                  <a:srgbClr val="5B6A82"/>
                </a:solidFill>
                <a:latin typeface="Calibri" pitchFamily="34" charset="0"/>
                <a:ea typeface="Calibri" pitchFamily="34" charset="-122"/>
                <a:cs typeface="Calibri" pitchFamily="34" charset="-120"/>
              </a:rPr>
              <a:t>Reproducible, documented analysis workflow</a:t>
            </a:r>
            <a:endParaRPr lang="en-US" sz="980" dirty="0"/>
          </a:p>
        </p:txBody>
      </p:sp>
      <p:sp>
        <p:nvSpPr>
          <p:cNvPr id="42" name="Shape 40"/>
          <p:cNvSpPr/>
          <p:nvPr/>
        </p:nvSpPr>
        <p:spPr>
          <a:xfrm>
            <a:off x="6217920" y="4014216"/>
            <a:ext cx="5257800" cy="512064"/>
          </a:xfrm>
          <a:prstGeom prst="roundRect">
            <a:avLst>
              <a:gd name="adj" fmla="val 16071"/>
            </a:avLst>
          </a:prstGeom>
          <a:solidFill>
            <a:srgbClr val="EFF3FA"/>
          </a:solidFill>
          <a:ln w="12700">
            <a:solidFill>
              <a:srgbClr val="E1E6EF"/>
            </a:solidFill>
            <a:prstDash val="solid"/>
          </a:ln>
        </p:spPr>
      </p:sp>
      <p:sp>
        <p:nvSpPr>
          <p:cNvPr id="43" name="Shape 41"/>
          <p:cNvSpPr/>
          <p:nvPr/>
        </p:nvSpPr>
        <p:spPr>
          <a:xfrm>
            <a:off x="6492240" y="4123944"/>
            <a:ext cx="310896" cy="310896"/>
          </a:xfrm>
          <a:prstGeom prst="roundRect">
            <a:avLst>
              <a:gd name="adj" fmla="val 23529"/>
            </a:avLst>
          </a:prstGeom>
          <a:solidFill>
            <a:srgbClr val="F2B134"/>
          </a:solidFill>
          <a:ln/>
        </p:spPr>
      </p:sp>
      <p:sp>
        <p:nvSpPr>
          <p:cNvPr id="44" name="Text 42"/>
          <p:cNvSpPr/>
          <p:nvPr/>
        </p:nvSpPr>
        <p:spPr>
          <a:xfrm>
            <a:off x="6492240" y="4123944"/>
            <a:ext cx="310896" cy="310896"/>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4</a:t>
            </a:r>
            <a:endParaRPr lang="en-US" sz="1200" dirty="0"/>
          </a:p>
        </p:txBody>
      </p:sp>
      <p:sp>
        <p:nvSpPr>
          <p:cNvPr id="45" name="Text 43"/>
          <p:cNvSpPr/>
          <p:nvPr/>
        </p:nvSpPr>
        <p:spPr>
          <a:xfrm>
            <a:off x="6931152" y="4050792"/>
            <a:ext cx="452628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Power BI Desktop</a:t>
            </a:r>
            <a:endParaRPr lang="en-US" sz="1200" dirty="0"/>
          </a:p>
        </p:txBody>
      </p:sp>
      <p:sp>
        <p:nvSpPr>
          <p:cNvPr id="46" name="Text 44"/>
          <p:cNvSpPr/>
          <p:nvPr/>
        </p:nvSpPr>
        <p:spPr>
          <a:xfrm>
            <a:off x="6931152" y="4279392"/>
            <a:ext cx="4526280" cy="246888"/>
          </a:xfrm>
          <a:prstGeom prst="rect">
            <a:avLst/>
          </a:prstGeom>
          <a:noFill/>
          <a:ln/>
        </p:spPr>
        <p:txBody>
          <a:bodyPr wrap="square" lIns="0" tIns="0" rIns="0" bIns="0" rtlCol="0" anchor="ctr"/>
          <a:lstStyle/>
          <a:p>
            <a:pPr marL="0" indent="0">
              <a:buNone/>
            </a:pPr>
            <a:r>
              <a:rPr lang="en-US" sz="980" dirty="0">
                <a:solidFill>
                  <a:srgbClr val="5B6A82"/>
                </a:solidFill>
                <a:latin typeface="Calibri" pitchFamily="34" charset="0"/>
                <a:ea typeface="Calibri" pitchFamily="34" charset="-122"/>
                <a:cs typeface="Calibri" pitchFamily="34" charset="-120"/>
              </a:rPr>
              <a:t>Executive, marketing, product &amp; refund dashboards</a:t>
            </a:r>
            <a:endParaRPr lang="en-US" sz="980" dirty="0"/>
          </a:p>
        </p:txBody>
      </p:sp>
      <p:sp>
        <p:nvSpPr>
          <p:cNvPr id="47" name="Shape 45"/>
          <p:cNvSpPr/>
          <p:nvPr/>
        </p:nvSpPr>
        <p:spPr>
          <a:xfrm>
            <a:off x="6355080" y="4626864"/>
            <a:ext cx="5257800" cy="512064"/>
          </a:xfrm>
          <a:prstGeom prst="roundRect">
            <a:avLst>
              <a:gd name="adj" fmla="val 16071"/>
            </a:avLst>
          </a:prstGeom>
          <a:solidFill>
            <a:srgbClr val="EFF3FA"/>
          </a:solidFill>
          <a:ln w="12700">
            <a:solidFill>
              <a:srgbClr val="E1E6EF"/>
            </a:solidFill>
            <a:prstDash val="solid"/>
          </a:ln>
        </p:spPr>
        <p:txBody>
          <a:bodyPr/>
          <a:lstStyle/>
          <a:p>
            <a:endParaRPr lang="en-IN" dirty="0"/>
          </a:p>
        </p:txBody>
      </p:sp>
      <p:sp>
        <p:nvSpPr>
          <p:cNvPr id="48" name="Shape 46"/>
          <p:cNvSpPr/>
          <p:nvPr/>
        </p:nvSpPr>
        <p:spPr>
          <a:xfrm>
            <a:off x="6492240" y="4727448"/>
            <a:ext cx="310896" cy="310896"/>
          </a:xfrm>
          <a:prstGeom prst="roundRect">
            <a:avLst>
              <a:gd name="adj" fmla="val 23529"/>
            </a:avLst>
          </a:prstGeom>
          <a:solidFill>
            <a:srgbClr val="F2B134"/>
          </a:solidFill>
          <a:ln/>
        </p:spPr>
      </p:sp>
      <p:sp>
        <p:nvSpPr>
          <p:cNvPr id="49" name="Text 47"/>
          <p:cNvSpPr/>
          <p:nvPr/>
        </p:nvSpPr>
        <p:spPr>
          <a:xfrm>
            <a:off x="6492240" y="4727448"/>
            <a:ext cx="310896" cy="310896"/>
          </a:xfrm>
          <a:prstGeom prst="rect">
            <a:avLst/>
          </a:prstGeom>
          <a:noFill/>
          <a:ln/>
        </p:spPr>
        <p:txBody>
          <a:bodyPr wrap="square" lIns="0" tIns="0" rIns="0" bIns="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5</a:t>
            </a:r>
            <a:endParaRPr lang="en-US" sz="1200" dirty="0"/>
          </a:p>
        </p:txBody>
      </p:sp>
      <p:sp>
        <p:nvSpPr>
          <p:cNvPr id="50" name="Text 48"/>
          <p:cNvSpPr/>
          <p:nvPr/>
        </p:nvSpPr>
        <p:spPr>
          <a:xfrm>
            <a:off x="6931152" y="4654296"/>
            <a:ext cx="452628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Project Documentation</a:t>
            </a:r>
            <a:endParaRPr lang="en-US" sz="1200" dirty="0"/>
          </a:p>
        </p:txBody>
      </p:sp>
      <p:sp>
        <p:nvSpPr>
          <p:cNvPr id="51" name="Text 49"/>
          <p:cNvSpPr/>
          <p:nvPr/>
        </p:nvSpPr>
        <p:spPr>
          <a:xfrm>
            <a:off x="6931152" y="4882896"/>
            <a:ext cx="4526280" cy="246888"/>
          </a:xfrm>
          <a:prstGeom prst="rect">
            <a:avLst/>
          </a:prstGeom>
          <a:noFill/>
          <a:ln/>
        </p:spPr>
        <p:txBody>
          <a:bodyPr wrap="square" lIns="0" tIns="0" rIns="0" bIns="0" rtlCol="0" anchor="ctr"/>
          <a:lstStyle/>
          <a:p>
            <a:pPr marL="0" indent="0">
              <a:buNone/>
            </a:pPr>
            <a:r>
              <a:rPr lang="en-US" sz="980" dirty="0">
                <a:solidFill>
                  <a:srgbClr val="5B6A82"/>
                </a:solidFill>
                <a:latin typeface="Calibri" pitchFamily="34" charset="0"/>
                <a:ea typeface="Calibri" pitchFamily="34" charset="-122"/>
                <a:cs typeface="Calibri" pitchFamily="34" charset="-120"/>
              </a:rPr>
              <a:t>Structured documentation of SQL, Python &amp; Power BI analysis</a:t>
            </a:r>
            <a:endParaRPr lang="en-US" sz="980" dirty="0"/>
          </a:p>
        </p:txBody>
      </p:sp>
      <p:sp>
        <p:nvSpPr>
          <p:cNvPr id="52" name="Shape 50"/>
          <p:cNvSpPr/>
          <p:nvPr/>
        </p:nvSpPr>
        <p:spPr>
          <a:xfrm>
            <a:off x="548640" y="5532120"/>
            <a:ext cx="11064240" cy="685800"/>
          </a:xfrm>
          <a:prstGeom prst="roundRect">
            <a:avLst>
              <a:gd name="adj" fmla="val 12000"/>
            </a:avLst>
          </a:prstGeom>
          <a:solidFill>
            <a:srgbClr val="FBF3E1"/>
          </a:solidFill>
          <a:ln w="12700">
            <a:solidFill>
              <a:srgbClr val="F0DBA6"/>
            </a:solidFill>
            <a:prstDash val="solid"/>
          </a:ln>
        </p:spPr>
      </p:sp>
      <p:sp>
        <p:nvSpPr>
          <p:cNvPr id="53" name="Text 51"/>
          <p:cNvSpPr/>
          <p:nvPr/>
        </p:nvSpPr>
        <p:spPr>
          <a:xfrm>
            <a:off x="822960" y="5632704"/>
            <a:ext cx="10515600" cy="502920"/>
          </a:xfrm>
          <a:prstGeom prst="rect">
            <a:avLst/>
          </a:prstGeom>
          <a:noFill/>
          <a:ln/>
        </p:spPr>
        <p:txBody>
          <a:bodyPr wrap="square" lIns="0" tIns="0" rIns="0" bIns="0" rtlCol="0" anchor="ctr"/>
          <a:lstStyle/>
          <a:p>
            <a:pPr marL="0" indent="0">
              <a:lnSpc>
                <a:spcPct val="120000"/>
              </a:lnSpc>
              <a:buNone/>
            </a:pPr>
            <a:r>
              <a:rPr lang="en-US" sz="1100" i="1" dirty="0">
                <a:solidFill>
                  <a:srgbClr val="16233B"/>
                </a:solidFill>
                <a:latin typeface="Calibri" pitchFamily="34" charset="0"/>
                <a:ea typeface="Calibri" pitchFamily="34" charset="-122"/>
                <a:cs typeface="Calibri" pitchFamily="34" charset="-120"/>
              </a:rPr>
              <a:t>Every objective above is delivered through this exact stack – SQL Server for the source of truth (connected via pyodbc), Python for analysis and modelling, Power BI for the reporting layer, and GitHub to keep it all versioned.</a:t>
            </a:r>
            <a:endParaRPr lang="en-US" sz="1100" dirty="0"/>
          </a:p>
        </p:txBody>
      </p:sp>
      <p:sp>
        <p:nvSpPr>
          <p:cNvPr id="54" name="Text 52"/>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55" name="Text 53"/>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89404" cy="292608"/>
          </a:xfrm>
          <a:prstGeom prst="roundRect">
            <a:avLst>
              <a:gd name="adj" fmla="val 25000"/>
            </a:avLst>
          </a:prstGeom>
          <a:solidFill>
            <a:srgbClr val="F2B134"/>
          </a:solidFill>
          <a:ln/>
        </p:spPr>
      </p:sp>
      <p:sp>
        <p:nvSpPr>
          <p:cNvPr id="3" name="Text 1"/>
          <p:cNvSpPr/>
          <p:nvPr/>
        </p:nvSpPr>
        <p:spPr>
          <a:xfrm>
            <a:off x="502920" y="384048"/>
            <a:ext cx="2089404"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DATA ARCHITECTURE</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Data Model &amp; ER Diagram</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6 core tables covering sessions, pageviews, orders, order items, products &amp; refunds</a:t>
            </a:r>
            <a:endParaRPr lang="en-US" sz="1300" dirty="0"/>
          </a:p>
        </p:txBody>
      </p:sp>
      <p:sp>
        <p:nvSpPr>
          <p:cNvPr id="6" name="Shape 4"/>
          <p:cNvSpPr/>
          <p:nvPr/>
        </p:nvSpPr>
        <p:spPr>
          <a:xfrm>
            <a:off x="548640" y="1920240"/>
            <a:ext cx="7955280" cy="4297680"/>
          </a:xfrm>
          <a:prstGeom prst="roundRect">
            <a:avLst>
              <a:gd name="adj" fmla="val 1915"/>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dlbf/ER-Diagram.png"/>
          <p:cNvPicPr>
            <a:picLocks noChangeAspect="1"/>
          </p:cNvPicPr>
          <p:nvPr/>
        </p:nvPicPr>
        <p:blipFill>
          <a:blip r:embed="rId3"/>
          <a:stretch>
            <a:fillRect/>
          </a:stretch>
        </p:blipFill>
        <p:spPr>
          <a:xfrm>
            <a:off x="777240" y="2148840"/>
            <a:ext cx="7498080" cy="3410712"/>
          </a:xfrm>
          <a:prstGeom prst="rect">
            <a:avLst/>
          </a:prstGeom>
        </p:spPr>
      </p:pic>
      <p:sp>
        <p:nvSpPr>
          <p:cNvPr id="8" name="Text 5"/>
          <p:cNvSpPr/>
          <p:nvPr/>
        </p:nvSpPr>
        <p:spPr>
          <a:xfrm>
            <a:off x="777240" y="5577840"/>
            <a:ext cx="7498080" cy="274320"/>
          </a:xfrm>
          <a:prstGeom prst="rect">
            <a:avLst/>
          </a:prstGeom>
          <a:noFill/>
          <a:ln/>
        </p:spPr>
        <p:txBody>
          <a:bodyPr wrap="square" lIns="0" tIns="0" rIns="0" bIns="0" rtlCol="0" anchor="ctr"/>
          <a:lstStyle/>
          <a:p>
            <a:pPr marL="0" indent="0">
              <a:buNone/>
            </a:pPr>
            <a:r>
              <a:rPr lang="en-US" sz="950" i="1" dirty="0">
                <a:solidFill>
                  <a:srgbClr val="5B6A82"/>
                </a:solidFill>
                <a:latin typeface="Calibri" pitchFamily="34" charset="0"/>
                <a:ea typeface="Calibri" pitchFamily="34" charset="-122"/>
                <a:cs typeface="Calibri" pitchFamily="34" charset="-120"/>
              </a:rPr>
              <a:t>Source: PRP_Ecommerce_Analytics – dbo schema (raw) → analytics schema (clean views)</a:t>
            </a:r>
            <a:endParaRPr lang="en-US" sz="950" dirty="0"/>
          </a:p>
        </p:txBody>
      </p:sp>
      <p:sp>
        <p:nvSpPr>
          <p:cNvPr id="9" name="Shape 6"/>
          <p:cNvSpPr/>
          <p:nvPr/>
        </p:nvSpPr>
        <p:spPr>
          <a:xfrm>
            <a:off x="8686800" y="1920240"/>
            <a:ext cx="2953512" cy="4297680"/>
          </a:xfrm>
          <a:prstGeom prst="roundRect">
            <a:avLst>
              <a:gd name="adj" fmla="val 2786"/>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10" name="Text 7"/>
          <p:cNvSpPr/>
          <p:nvPr/>
        </p:nvSpPr>
        <p:spPr>
          <a:xfrm>
            <a:off x="8915400" y="2103120"/>
            <a:ext cx="2560320" cy="320040"/>
          </a:xfrm>
          <a:prstGeom prst="rect">
            <a:avLst/>
          </a:prstGeom>
          <a:noFill/>
          <a:ln/>
        </p:spPr>
        <p:txBody>
          <a:bodyPr wrap="square" lIns="0" tIns="0" rIns="0" bIns="0" rtlCol="0" anchor="ctr"/>
          <a:lstStyle/>
          <a:p>
            <a:pPr marL="0" indent="0">
              <a:buNone/>
            </a:pPr>
            <a:r>
              <a:rPr lang="en-US" sz="1350" b="1" dirty="0">
                <a:solidFill>
                  <a:srgbClr val="F2B134"/>
                </a:solidFill>
                <a:latin typeface="Calibri" pitchFamily="34" charset="0"/>
                <a:ea typeface="Calibri" pitchFamily="34" charset="-122"/>
                <a:cs typeface="Calibri" pitchFamily="34" charset="-120"/>
              </a:rPr>
              <a:t>Core Tables</a:t>
            </a:r>
            <a:endParaRPr lang="en-US" sz="1350" dirty="0"/>
          </a:p>
        </p:txBody>
      </p:sp>
      <p:sp>
        <p:nvSpPr>
          <p:cNvPr id="11" name="Text 8"/>
          <p:cNvSpPr/>
          <p:nvPr/>
        </p:nvSpPr>
        <p:spPr>
          <a:xfrm>
            <a:off x="8915400" y="2487168"/>
            <a:ext cx="2651760" cy="3566160"/>
          </a:xfrm>
          <a:prstGeom prst="rect">
            <a:avLst/>
          </a:prstGeom>
          <a:noFill/>
          <a:ln/>
        </p:spPr>
        <p:txBody>
          <a:bodyPr wrap="square" lIns="0" tIns="0" rIns="0" bIns="0" rtlCol="0" anchor="ctr"/>
          <a:lstStyle/>
          <a:p>
            <a:pPr marL="342900" indent="-342900">
              <a:spcAft>
                <a:spcPts val="1000"/>
              </a:spcAft>
              <a:buSzPct val="100000"/>
              <a:buChar char="▪"/>
            </a:pPr>
            <a:r>
              <a:rPr lang="en-US" sz="1030" dirty="0">
                <a:solidFill>
                  <a:srgbClr val="E6ECF7"/>
                </a:solidFill>
                <a:latin typeface="Calibri" pitchFamily="34" charset="0"/>
                <a:ea typeface="Calibri" pitchFamily="34" charset="-122"/>
                <a:cs typeface="Calibri" pitchFamily="34" charset="-120"/>
              </a:rPr>
              <a:t>website_sessions – traffic source, device, repeat flag</a:t>
            </a:r>
            <a:endParaRPr lang="en-US" sz="1030" dirty="0"/>
          </a:p>
          <a:p>
            <a:pPr marL="342900" indent="-342900">
              <a:spcAft>
                <a:spcPts val="1000"/>
              </a:spcAft>
              <a:buSzPct val="100000"/>
              <a:buChar char="▪"/>
            </a:pPr>
            <a:r>
              <a:rPr lang="en-US" sz="1030" dirty="0">
                <a:solidFill>
                  <a:srgbClr val="E6ECF7"/>
                </a:solidFill>
                <a:latin typeface="Calibri" pitchFamily="34" charset="0"/>
                <a:ea typeface="Calibri" pitchFamily="34" charset="-122"/>
                <a:cs typeface="Calibri" pitchFamily="34" charset="-120"/>
              </a:rPr>
              <a:t>website_pageviews – page-level browsing path</a:t>
            </a:r>
            <a:endParaRPr lang="en-US" sz="1030" dirty="0"/>
          </a:p>
          <a:p>
            <a:pPr marL="342900" indent="-342900">
              <a:spcAft>
                <a:spcPts val="1000"/>
              </a:spcAft>
              <a:buSzPct val="100000"/>
              <a:buChar char="▪"/>
            </a:pPr>
            <a:r>
              <a:rPr lang="en-US" sz="1030" dirty="0">
                <a:solidFill>
                  <a:srgbClr val="E6ECF7"/>
                </a:solidFill>
                <a:latin typeface="Calibri" pitchFamily="34" charset="0"/>
                <a:ea typeface="Calibri" pitchFamily="34" charset="-122"/>
                <a:cs typeface="Calibri" pitchFamily="34" charset="-120"/>
              </a:rPr>
              <a:t>products – product catalogue</a:t>
            </a:r>
            <a:endParaRPr lang="en-US" sz="1030" dirty="0"/>
          </a:p>
          <a:p>
            <a:pPr marL="342900" indent="-342900">
              <a:spcAft>
                <a:spcPts val="1000"/>
              </a:spcAft>
              <a:buSzPct val="100000"/>
              <a:buChar char="▪"/>
            </a:pPr>
            <a:r>
              <a:rPr lang="en-US" sz="1030" dirty="0">
                <a:solidFill>
                  <a:srgbClr val="E6ECF7"/>
                </a:solidFill>
                <a:latin typeface="Calibri" pitchFamily="34" charset="0"/>
                <a:ea typeface="Calibri" pitchFamily="34" charset="-122"/>
                <a:cs typeface="Calibri" pitchFamily="34" charset="-120"/>
              </a:rPr>
              <a:t>orders – order-level revenue &amp; COGS</a:t>
            </a:r>
            <a:endParaRPr lang="en-US" sz="1030" dirty="0"/>
          </a:p>
          <a:p>
            <a:pPr marL="342900" indent="-342900">
              <a:spcAft>
                <a:spcPts val="1000"/>
              </a:spcAft>
              <a:buSzPct val="100000"/>
              <a:buChar char="▪"/>
            </a:pPr>
            <a:r>
              <a:rPr lang="en-US" sz="1030" dirty="0">
                <a:solidFill>
                  <a:srgbClr val="E6ECF7"/>
                </a:solidFill>
                <a:latin typeface="Calibri" pitchFamily="34" charset="0"/>
                <a:ea typeface="Calibri" pitchFamily="34" charset="-122"/>
                <a:cs typeface="Calibri" pitchFamily="34" charset="-120"/>
              </a:rPr>
              <a:t>order_items – line-item detail per order</a:t>
            </a:r>
            <a:endParaRPr lang="en-US" sz="1030" dirty="0"/>
          </a:p>
          <a:p>
            <a:pPr marL="342900" indent="-342900">
              <a:spcAft>
                <a:spcPts val="1000"/>
              </a:spcAft>
              <a:buSzPct val="100000"/>
              <a:buChar char="▪"/>
            </a:pPr>
            <a:r>
              <a:rPr lang="en-US" sz="1030" dirty="0">
                <a:solidFill>
                  <a:srgbClr val="E6ECF7"/>
                </a:solidFill>
                <a:latin typeface="Calibri" pitchFamily="34" charset="0"/>
                <a:ea typeface="Calibri" pitchFamily="34" charset="-122"/>
                <a:cs typeface="Calibri" pitchFamily="34" charset="-120"/>
              </a:rPr>
              <a:t>order_item_refunds – refund amount &amp; timing</a:t>
            </a:r>
            <a:endParaRPr lang="en-US" sz="1030" dirty="0"/>
          </a:p>
        </p:txBody>
      </p:sp>
      <p:sp>
        <p:nvSpPr>
          <p:cNvPr id="12" name="Text 9"/>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13" name="Text 10"/>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1609344" cy="292608"/>
          </a:xfrm>
          <a:prstGeom prst="roundRect">
            <a:avLst>
              <a:gd name="adj" fmla="val 25000"/>
            </a:avLst>
          </a:prstGeom>
          <a:solidFill>
            <a:srgbClr val="F2B134"/>
          </a:solidFill>
          <a:ln/>
        </p:spPr>
      </p:sp>
      <p:sp>
        <p:nvSpPr>
          <p:cNvPr id="3" name="Text 1"/>
          <p:cNvSpPr/>
          <p:nvPr/>
        </p:nvSpPr>
        <p:spPr>
          <a:xfrm>
            <a:off x="502920" y="384048"/>
            <a:ext cx="1609344"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DATA QUALITY</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Data Audit &amp; Cleaning Approach</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10 SQL scripts, executed in order, transform raw tables into trusted analytics views</a:t>
            </a:r>
            <a:endParaRPr lang="en-US" sz="1300" dirty="0"/>
          </a:p>
        </p:txBody>
      </p:sp>
      <p:sp>
        <p:nvSpPr>
          <p:cNvPr id="6" name="Shape 4"/>
          <p:cNvSpPr/>
          <p:nvPr/>
        </p:nvSpPr>
        <p:spPr>
          <a:xfrm>
            <a:off x="548640" y="1920240"/>
            <a:ext cx="5394960" cy="758952"/>
          </a:xfrm>
          <a:prstGeom prst="roundRect">
            <a:avLst>
              <a:gd name="adj" fmla="val 10843"/>
            </a:avLst>
          </a:prstGeom>
          <a:solidFill>
            <a:srgbClr val="FFFFFF"/>
          </a:solidFill>
          <a:ln w="12700">
            <a:solidFill>
              <a:srgbClr val="E1E6EF"/>
            </a:solidFill>
            <a:prstDash val="solid"/>
          </a:ln>
        </p:spPr>
      </p:sp>
      <p:sp>
        <p:nvSpPr>
          <p:cNvPr id="7" name="Shape 5"/>
          <p:cNvSpPr/>
          <p:nvPr/>
        </p:nvSpPr>
        <p:spPr>
          <a:xfrm>
            <a:off x="694944" y="2071116"/>
            <a:ext cx="457200" cy="457200"/>
          </a:xfrm>
          <a:prstGeom prst="ellipse">
            <a:avLst/>
          </a:prstGeom>
          <a:solidFill>
            <a:srgbClr val="1C7293"/>
          </a:solidFill>
          <a:ln/>
        </p:spPr>
      </p:sp>
      <p:sp>
        <p:nvSpPr>
          <p:cNvPr id="8" name="Text 6"/>
          <p:cNvSpPr/>
          <p:nvPr/>
        </p:nvSpPr>
        <p:spPr>
          <a:xfrm>
            <a:off x="694944" y="207111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325880" y="1993392"/>
            <a:ext cx="448056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Audit Revalidation</a:t>
            </a:r>
            <a:endParaRPr lang="en-US" sz="1200" dirty="0"/>
          </a:p>
        </p:txBody>
      </p:sp>
      <p:sp>
        <p:nvSpPr>
          <p:cNvPr id="10" name="Text 8"/>
          <p:cNvSpPr/>
          <p:nvPr/>
        </p:nvSpPr>
        <p:spPr>
          <a:xfrm>
            <a:off x="1325880" y="2240280"/>
            <a:ext cx="4480560" cy="411480"/>
          </a:xfrm>
          <a:prstGeom prst="rect">
            <a:avLst/>
          </a:prstGeom>
          <a:noFill/>
          <a:ln/>
        </p:spPr>
        <p:txBody>
          <a:bodyPr wrap="square" lIns="0" tIns="0" rIns="0" bIns="0" rtlCol="0" anchor="ctr"/>
          <a:lstStyle/>
          <a:p>
            <a:pPr marL="0" indent="0">
              <a:lnSpc>
                <a:spcPct val="105000"/>
              </a:lnSpc>
              <a:buNone/>
            </a:pPr>
            <a:r>
              <a:rPr lang="en-US" sz="970" dirty="0">
                <a:solidFill>
                  <a:srgbClr val="5B6A82"/>
                </a:solidFill>
                <a:latin typeface="Calibri" pitchFamily="34" charset="0"/>
                <a:ea typeface="Calibri" pitchFamily="34" charset="-122"/>
                <a:cs typeface="Calibri" pitchFamily="34" charset="-120"/>
              </a:rPr>
              <a:t>Row counts, primary-key duplicate checks and meaningful-NULL review on all 6 source tables.</a:t>
            </a:r>
            <a:endParaRPr lang="en-US" sz="970" dirty="0"/>
          </a:p>
        </p:txBody>
      </p:sp>
      <p:sp>
        <p:nvSpPr>
          <p:cNvPr id="11" name="Shape 9"/>
          <p:cNvSpPr/>
          <p:nvPr/>
        </p:nvSpPr>
        <p:spPr>
          <a:xfrm>
            <a:off x="548640" y="2770632"/>
            <a:ext cx="5394960" cy="758952"/>
          </a:xfrm>
          <a:prstGeom prst="roundRect">
            <a:avLst>
              <a:gd name="adj" fmla="val 10843"/>
            </a:avLst>
          </a:prstGeom>
          <a:solidFill>
            <a:srgbClr val="FFFFFF"/>
          </a:solidFill>
          <a:ln w="12700">
            <a:solidFill>
              <a:srgbClr val="E1E6EF"/>
            </a:solidFill>
            <a:prstDash val="solid"/>
          </a:ln>
        </p:spPr>
      </p:sp>
      <p:sp>
        <p:nvSpPr>
          <p:cNvPr id="12" name="Shape 10"/>
          <p:cNvSpPr/>
          <p:nvPr/>
        </p:nvSpPr>
        <p:spPr>
          <a:xfrm>
            <a:off x="694944" y="2921508"/>
            <a:ext cx="457200" cy="457200"/>
          </a:xfrm>
          <a:prstGeom prst="ellipse">
            <a:avLst/>
          </a:prstGeom>
          <a:solidFill>
            <a:srgbClr val="1C7293"/>
          </a:solidFill>
          <a:ln/>
        </p:spPr>
      </p:sp>
      <p:sp>
        <p:nvSpPr>
          <p:cNvPr id="13" name="Text 11"/>
          <p:cNvSpPr/>
          <p:nvPr/>
        </p:nvSpPr>
        <p:spPr>
          <a:xfrm>
            <a:off x="694944" y="29215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1325880" y="2843784"/>
            <a:ext cx="448056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Cleaning &amp; Transformation</a:t>
            </a:r>
            <a:endParaRPr lang="en-US" sz="1200" dirty="0"/>
          </a:p>
        </p:txBody>
      </p:sp>
      <p:sp>
        <p:nvSpPr>
          <p:cNvPr id="15" name="Text 13"/>
          <p:cNvSpPr/>
          <p:nvPr/>
        </p:nvSpPr>
        <p:spPr>
          <a:xfrm>
            <a:off x="1325880" y="3090672"/>
            <a:ext cx="4480560" cy="411480"/>
          </a:xfrm>
          <a:prstGeom prst="rect">
            <a:avLst/>
          </a:prstGeom>
          <a:noFill/>
          <a:ln/>
        </p:spPr>
        <p:txBody>
          <a:bodyPr wrap="square" lIns="0" tIns="0" rIns="0" bIns="0" rtlCol="0" anchor="ctr"/>
          <a:lstStyle/>
          <a:p>
            <a:pPr marL="0" indent="0">
              <a:lnSpc>
                <a:spcPct val="105000"/>
              </a:lnSpc>
              <a:buNone/>
            </a:pPr>
            <a:r>
              <a:rPr lang="en-US" sz="970" dirty="0">
                <a:solidFill>
                  <a:srgbClr val="5B6A82"/>
                </a:solidFill>
                <a:latin typeface="Calibri" pitchFamily="34" charset="0"/>
                <a:ea typeface="Calibri" pitchFamily="34" charset="-122"/>
                <a:cs typeface="Calibri" pitchFamily="34" charset="-120"/>
              </a:rPr>
              <a:t>Standardised types, trimmed text fields and built analytics.vw_* clean views without altering raw tables.</a:t>
            </a:r>
            <a:endParaRPr lang="en-US" sz="970" dirty="0"/>
          </a:p>
        </p:txBody>
      </p:sp>
      <p:sp>
        <p:nvSpPr>
          <p:cNvPr id="16" name="Shape 14"/>
          <p:cNvSpPr/>
          <p:nvPr/>
        </p:nvSpPr>
        <p:spPr>
          <a:xfrm>
            <a:off x="548640" y="3621024"/>
            <a:ext cx="5394960" cy="758952"/>
          </a:xfrm>
          <a:prstGeom prst="roundRect">
            <a:avLst>
              <a:gd name="adj" fmla="val 10843"/>
            </a:avLst>
          </a:prstGeom>
          <a:solidFill>
            <a:srgbClr val="FFFFFF"/>
          </a:solidFill>
          <a:ln w="12700">
            <a:solidFill>
              <a:srgbClr val="E1E6EF"/>
            </a:solidFill>
            <a:prstDash val="solid"/>
          </a:ln>
        </p:spPr>
      </p:sp>
      <p:sp>
        <p:nvSpPr>
          <p:cNvPr id="17" name="Shape 15"/>
          <p:cNvSpPr/>
          <p:nvPr/>
        </p:nvSpPr>
        <p:spPr>
          <a:xfrm>
            <a:off x="694944" y="3771900"/>
            <a:ext cx="457200" cy="457200"/>
          </a:xfrm>
          <a:prstGeom prst="ellipse">
            <a:avLst/>
          </a:prstGeom>
          <a:solidFill>
            <a:srgbClr val="1C7293"/>
          </a:solidFill>
          <a:ln/>
        </p:spPr>
      </p:sp>
      <p:sp>
        <p:nvSpPr>
          <p:cNvPr id="18" name="Text 16"/>
          <p:cNvSpPr/>
          <p:nvPr/>
        </p:nvSpPr>
        <p:spPr>
          <a:xfrm>
            <a:off x="694944" y="37719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325880" y="3694176"/>
            <a:ext cx="448056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KPI Definitions</a:t>
            </a:r>
            <a:endParaRPr lang="en-US" sz="1200" dirty="0"/>
          </a:p>
        </p:txBody>
      </p:sp>
      <p:sp>
        <p:nvSpPr>
          <p:cNvPr id="20" name="Text 18"/>
          <p:cNvSpPr/>
          <p:nvPr/>
        </p:nvSpPr>
        <p:spPr>
          <a:xfrm>
            <a:off x="1325880" y="3941064"/>
            <a:ext cx="4480560" cy="411480"/>
          </a:xfrm>
          <a:prstGeom prst="rect">
            <a:avLst/>
          </a:prstGeom>
          <a:noFill/>
          <a:ln/>
        </p:spPr>
        <p:txBody>
          <a:bodyPr wrap="square" lIns="0" tIns="0" rIns="0" bIns="0" rtlCol="0" anchor="ctr"/>
          <a:lstStyle/>
          <a:p>
            <a:pPr marL="0" indent="0">
              <a:lnSpc>
                <a:spcPct val="105000"/>
              </a:lnSpc>
              <a:buNone/>
            </a:pPr>
            <a:r>
              <a:rPr lang="en-US" sz="970" dirty="0">
                <a:solidFill>
                  <a:srgbClr val="5B6A82"/>
                </a:solidFill>
                <a:latin typeface="Calibri" pitchFamily="34" charset="0"/>
                <a:ea typeface="Calibri" pitchFamily="34" charset="-122"/>
                <a:cs typeface="Calibri" pitchFamily="34" charset="-120"/>
              </a:rPr>
              <a:t>Reusable queries for revenue, margin, AOV, refunds, sessions &amp; conversion rate.</a:t>
            </a:r>
            <a:endParaRPr lang="en-US" sz="970" dirty="0"/>
          </a:p>
        </p:txBody>
      </p:sp>
      <p:sp>
        <p:nvSpPr>
          <p:cNvPr id="21" name="Shape 19"/>
          <p:cNvSpPr/>
          <p:nvPr/>
        </p:nvSpPr>
        <p:spPr>
          <a:xfrm>
            <a:off x="6263640" y="1920240"/>
            <a:ext cx="5394960" cy="758952"/>
          </a:xfrm>
          <a:prstGeom prst="roundRect">
            <a:avLst>
              <a:gd name="adj" fmla="val 10843"/>
            </a:avLst>
          </a:prstGeom>
          <a:solidFill>
            <a:srgbClr val="FFFFFF"/>
          </a:solidFill>
          <a:ln w="12700">
            <a:solidFill>
              <a:srgbClr val="E1E6EF"/>
            </a:solidFill>
            <a:prstDash val="solid"/>
          </a:ln>
        </p:spPr>
      </p:sp>
      <p:sp>
        <p:nvSpPr>
          <p:cNvPr id="22" name="Shape 20"/>
          <p:cNvSpPr/>
          <p:nvPr/>
        </p:nvSpPr>
        <p:spPr>
          <a:xfrm>
            <a:off x="6409944" y="2071116"/>
            <a:ext cx="457200" cy="457200"/>
          </a:xfrm>
          <a:prstGeom prst="ellipse">
            <a:avLst/>
          </a:prstGeom>
          <a:solidFill>
            <a:srgbClr val="C9891A"/>
          </a:solidFill>
          <a:ln/>
        </p:spPr>
      </p:sp>
      <p:sp>
        <p:nvSpPr>
          <p:cNvPr id="23" name="Text 21"/>
          <p:cNvSpPr/>
          <p:nvPr/>
        </p:nvSpPr>
        <p:spPr>
          <a:xfrm>
            <a:off x="6409944" y="207111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7040880" y="1993392"/>
            <a:ext cx="448056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EDA (Sales, Marketing, Product, Customer)</a:t>
            </a:r>
            <a:endParaRPr lang="en-US" sz="1200" dirty="0"/>
          </a:p>
        </p:txBody>
      </p:sp>
      <p:sp>
        <p:nvSpPr>
          <p:cNvPr id="25" name="Text 23"/>
          <p:cNvSpPr/>
          <p:nvPr/>
        </p:nvSpPr>
        <p:spPr>
          <a:xfrm>
            <a:off x="7040880" y="2240280"/>
            <a:ext cx="4480560" cy="411480"/>
          </a:xfrm>
          <a:prstGeom prst="rect">
            <a:avLst/>
          </a:prstGeom>
          <a:noFill/>
          <a:ln/>
        </p:spPr>
        <p:txBody>
          <a:bodyPr wrap="square" lIns="0" tIns="0" rIns="0" bIns="0" rtlCol="0" anchor="ctr"/>
          <a:lstStyle/>
          <a:p>
            <a:pPr marL="0" indent="0">
              <a:lnSpc>
                <a:spcPct val="105000"/>
              </a:lnSpc>
              <a:buNone/>
            </a:pPr>
            <a:r>
              <a:rPr lang="en-US" sz="970" dirty="0">
                <a:solidFill>
                  <a:srgbClr val="5B6A82"/>
                </a:solidFill>
                <a:latin typeface="Calibri" pitchFamily="34" charset="0"/>
                <a:ea typeface="Calibri" pitchFamily="34" charset="-122"/>
                <a:cs typeface="Calibri" pitchFamily="34" charset="-120"/>
              </a:rPr>
              <a:t>Four dedicated scripts profiling each business area independently.</a:t>
            </a:r>
            <a:endParaRPr lang="en-US" sz="970" dirty="0"/>
          </a:p>
        </p:txBody>
      </p:sp>
      <p:sp>
        <p:nvSpPr>
          <p:cNvPr id="26" name="Shape 24"/>
          <p:cNvSpPr/>
          <p:nvPr/>
        </p:nvSpPr>
        <p:spPr>
          <a:xfrm>
            <a:off x="6263640" y="2770632"/>
            <a:ext cx="5394960" cy="758952"/>
          </a:xfrm>
          <a:prstGeom prst="roundRect">
            <a:avLst>
              <a:gd name="adj" fmla="val 10843"/>
            </a:avLst>
          </a:prstGeom>
          <a:solidFill>
            <a:srgbClr val="FFFFFF"/>
          </a:solidFill>
          <a:ln w="12700">
            <a:solidFill>
              <a:srgbClr val="E1E6EF"/>
            </a:solidFill>
            <a:prstDash val="solid"/>
          </a:ln>
        </p:spPr>
      </p:sp>
      <p:sp>
        <p:nvSpPr>
          <p:cNvPr id="27" name="Shape 25"/>
          <p:cNvSpPr/>
          <p:nvPr/>
        </p:nvSpPr>
        <p:spPr>
          <a:xfrm>
            <a:off x="6409944" y="2921508"/>
            <a:ext cx="457200" cy="457200"/>
          </a:xfrm>
          <a:prstGeom prst="ellipse">
            <a:avLst/>
          </a:prstGeom>
          <a:solidFill>
            <a:srgbClr val="C9891A"/>
          </a:solidFill>
          <a:ln/>
        </p:spPr>
      </p:sp>
      <p:sp>
        <p:nvSpPr>
          <p:cNvPr id="28" name="Text 26"/>
          <p:cNvSpPr/>
          <p:nvPr/>
        </p:nvSpPr>
        <p:spPr>
          <a:xfrm>
            <a:off x="6409944" y="29215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7040880" y="2843784"/>
            <a:ext cx="448056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Diagnostic Analysis</a:t>
            </a:r>
            <a:endParaRPr lang="en-US" sz="1200" dirty="0"/>
          </a:p>
        </p:txBody>
      </p:sp>
      <p:sp>
        <p:nvSpPr>
          <p:cNvPr id="30" name="Text 28"/>
          <p:cNvSpPr/>
          <p:nvPr/>
        </p:nvSpPr>
        <p:spPr>
          <a:xfrm>
            <a:off x="7040880" y="3090672"/>
            <a:ext cx="4480560" cy="411480"/>
          </a:xfrm>
          <a:prstGeom prst="rect">
            <a:avLst/>
          </a:prstGeom>
          <a:noFill/>
          <a:ln/>
        </p:spPr>
        <p:txBody>
          <a:bodyPr wrap="square" lIns="0" tIns="0" rIns="0" bIns="0" rtlCol="0" anchor="ctr"/>
          <a:lstStyle/>
          <a:p>
            <a:pPr marL="0" indent="0">
              <a:lnSpc>
                <a:spcPct val="105000"/>
              </a:lnSpc>
              <a:buNone/>
            </a:pPr>
            <a:r>
              <a:rPr lang="en-US" sz="970" dirty="0">
                <a:solidFill>
                  <a:srgbClr val="5B6A82"/>
                </a:solidFill>
                <a:latin typeface="Calibri" pitchFamily="34" charset="0"/>
                <a:ea typeface="Calibri" pitchFamily="34" charset="-122"/>
                <a:cs typeface="Calibri" pitchFamily="34" charset="-120"/>
              </a:rPr>
              <a:t>Comparative &amp; decomposition queries – device, channel, product and calendar cuts.</a:t>
            </a:r>
            <a:endParaRPr lang="en-US" sz="970" dirty="0"/>
          </a:p>
        </p:txBody>
      </p:sp>
      <p:sp>
        <p:nvSpPr>
          <p:cNvPr id="31" name="Shape 29"/>
          <p:cNvSpPr/>
          <p:nvPr/>
        </p:nvSpPr>
        <p:spPr>
          <a:xfrm>
            <a:off x="6263640" y="3621024"/>
            <a:ext cx="5394960" cy="758952"/>
          </a:xfrm>
          <a:prstGeom prst="roundRect">
            <a:avLst>
              <a:gd name="adj" fmla="val 10843"/>
            </a:avLst>
          </a:prstGeom>
          <a:solidFill>
            <a:srgbClr val="FFFFFF"/>
          </a:solidFill>
          <a:ln w="12700">
            <a:solidFill>
              <a:srgbClr val="E1E6EF"/>
            </a:solidFill>
            <a:prstDash val="solid"/>
          </a:ln>
        </p:spPr>
      </p:sp>
      <p:sp>
        <p:nvSpPr>
          <p:cNvPr id="32" name="Shape 30"/>
          <p:cNvSpPr/>
          <p:nvPr/>
        </p:nvSpPr>
        <p:spPr>
          <a:xfrm>
            <a:off x="6409944" y="3771900"/>
            <a:ext cx="457200" cy="457200"/>
          </a:xfrm>
          <a:prstGeom prst="ellipse">
            <a:avLst/>
          </a:prstGeom>
          <a:solidFill>
            <a:srgbClr val="C9891A"/>
          </a:solidFill>
          <a:ln/>
        </p:spPr>
      </p:sp>
      <p:sp>
        <p:nvSpPr>
          <p:cNvPr id="33" name="Text 31"/>
          <p:cNvSpPr/>
          <p:nvPr/>
        </p:nvSpPr>
        <p:spPr>
          <a:xfrm>
            <a:off x="6409944" y="37719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4" name="Text 32"/>
          <p:cNvSpPr/>
          <p:nvPr/>
        </p:nvSpPr>
        <p:spPr>
          <a:xfrm>
            <a:off x="7040880" y="3694176"/>
            <a:ext cx="4480560" cy="256032"/>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Final Reconciliation &amp; KPI Snapshot</a:t>
            </a:r>
            <a:endParaRPr lang="en-US" sz="1200" dirty="0"/>
          </a:p>
        </p:txBody>
      </p:sp>
      <p:sp>
        <p:nvSpPr>
          <p:cNvPr id="35" name="Text 33"/>
          <p:cNvSpPr/>
          <p:nvPr/>
        </p:nvSpPr>
        <p:spPr>
          <a:xfrm>
            <a:off x="7040880" y="3941064"/>
            <a:ext cx="4480560" cy="411480"/>
          </a:xfrm>
          <a:prstGeom prst="rect">
            <a:avLst/>
          </a:prstGeom>
          <a:noFill/>
          <a:ln/>
        </p:spPr>
        <p:txBody>
          <a:bodyPr wrap="square" lIns="0" tIns="0" rIns="0" bIns="0" rtlCol="0" anchor="ctr"/>
          <a:lstStyle/>
          <a:p>
            <a:pPr marL="0" indent="0">
              <a:lnSpc>
                <a:spcPct val="105000"/>
              </a:lnSpc>
              <a:buNone/>
            </a:pPr>
            <a:r>
              <a:rPr lang="en-US" sz="970" dirty="0">
                <a:solidFill>
                  <a:srgbClr val="5B6A82"/>
                </a:solidFill>
                <a:latin typeface="Calibri" pitchFamily="34" charset="0"/>
                <a:ea typeface="Calibri" pitchFamily="34" charset="-122"/>
                <a:cs typeface="Calibri" pitchFamily="34" charset="-120"/>
              </a:rPr>
              <a:t>Single validated result set used as the source of truth for this presentation.</a:t>
            </a:r>
            <a:endParaRPr lang="en-US" sz="970" dirty="0"/>
          </a:p>
        </p:txBody>
      </p:sp>
      <p:sp>
        <p:nvSpPr>
          <p:cNvPr id="36" name="Shape 34"/>
          <p:cNvSpPr/>
          <p:nvPr/>
        </p:nvSpPr>
        <p:spPr>
          <a:xfrm>
            <a:off x="548640" y="4709160"/>
            <a:ext cx="10607040" cy="1234440"/>
          </a:xfrm>
          <a:prstGeom prst="roundRect">
            <a:avLst>
              <a:gd name="adj" fmla="val 6667"/>
            </a:avLst>
          </a:prstGeom>
          <a:solidFill>
            <a:srgbClr val="FBF3E1"/>
          </a:solidFill>
          <a:ln w="12700">
            <a:solidFill>
              <a:srgbClr val="F0DBA6"/>
            </a:solidFill>
            <a:prstDash val="solid"/>
          </a:ln>
          <a:effectLst>
            <a:outerShdw blurRad="101600" dist="25400" dir="5400000" algn="bl" rotWithShape="0">
              <a:srgbClr val="9AA7BD">
                <a:alpha val="35000"/>
              </a:srgbClr>
            </a:outerShdw>
          </a:effectLst>
        </p:spPr>
      </p:sp>
      <p:sp>
        <p:nvSpPr>
          <p:cNvPr id="37" name="Text 35"/>
          <p:cNvSpPr/>
          <p:nvPr/>
        </p:nvSpPr>
        <p:spPr>
          <a:xfrm>
            <a:off x="822960" y="4864608"/>
            <a:ext cx="1828800" cy="274320"/>
          </a:xfrm>
          <a:prstGeom prst="rect">
            <a:avLst/>
          </a:prstGeom>
          <a:noFill/>
          <a:ln/>
        </p:spPr>
        <p:txBody>
          <a:bodyPr wrap="square" lIns="0" tIns="0" rIns="0" bIns="0" rtlCol="0" anchor="ctr"/>
          <a:lstStyle/>
          <a:p>
            <a:pPr marL="0" indent="0">
              <a:buNone/>
            </a:pPr>
            <a:r>
              <a:rPr lang="en-US" sz="1150" b="1" dirty="0">
                <a:solidFill>
                  <a:srgbClr val="C9891A"/>
                </a:solidFill>
                <a:latin typeface="Calibri" pitchFamily="34" charset="0"/>
                <a:ea typeface="Calibri" pitchFamily="34" charset="-122"/>
                <a:cs typeface="Calibri" pitchFamily="34" charset="-120"/>
              </a:rPr>
              <a:t>Principle</a:t>
            </a:r>
            <a:endParaRPr lang="en-US" sz="1150" dirty="0"/>
          </a:p>
        </p:txBody>
      </p:sp>
      <p:sp>
        <p:nvSpPr>
          <p:cNvPr id="38" name="Text 36"/>
          <p:cNvSpPr/>
          <p:nvPr/>
        </p:nvSpPr>
        <p:spPr>
          <a:xfrm>
            <a:off x="822960" y="5148072"/>
            <a:ext cx="9966960" cy="640080"/>
          </a:xfrm>
          <a:prstGeom prst="rect">
            <a:avLst/>
          </a:prstGeom>
          <a:noFill/>
          <a:ln/>
        </p:spPr>
        <p:txBody>
          <a:bodyPr wrap="square" lIns="0" tIns="0" rIns="0" bIns="0" rtlCol="0" anchor="ctr"/>
          <a:lstStyle/>
          <a:p>
            <a:pPr marL="0" indent="0">
              <a:lnSpc>
                <a:spcPct val="120000"/>
              </a:lnSpc>
              <a:buNone/>
            </a:pPr>
            <a:r>
              <a:rPr lang="en-US" sz="1200" dirty="0">
                <a:solidFill>
                  <a:srgbClr val="16233B"/>
                </a:solidFill>
                <a:latin typeface="Calibri" pitchFamily="34" charset="0"/>
                <a:ea typeface="Calibri" pitchFamily="34" charset="-122"/>
                <a:cs typeface="Calibri" pitchFamily="34" charset="-120"/>
              </a:rPr>
              <a:t>Raw source tables are never modified. Every transformation lives in versioned SQL views (analytics schema), so results are always reproducible and auditable back to source.</a:t>
            </a:r>
            <a:endParaRPr lang="en-US" sz="1200" dirty="0"/>
          </a:p>
        </p:txBody>
      </p:sp>
      <p:sp>
        <p:nvSpPr>
          <p:cNvPr id="39" name="Text 37"/>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40" name="Text 38"/>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1705356" cy="292608"/>
          </a:xfrm>
          <a:prstGeom prst="roundRect">
            <a:avLst>
              <a:gd name="adj" fmla="val 25000"/>
            </a:avLst>
          </a:prstGeom>
          <a:solidFill>
            <a:srgbClr val="F2B134"/>
          </a:solidFill>
          <a:ln/>
        </p:spPr>
      </p:sp>
      <p:sp>
        <p:nvSpPr>
          <p:cNvPr id="3" name="Text 1"/>
          <p:cNvSpPr/>
          <p:nvPr/>
        </p:nvSpPr>
        <p:spPr>
          <a:xfrm>
            <a:off x="502920" y="384048"/>
            <a:ext cx="1705356"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KPI FRAMEWORK</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How Our KPIs Are Defined</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Definitions used consistently across SQL, Python and Power BI</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4023360"/>
        </p:xfrm>
        <a:graphic>
          <a:graphicData uri="http://schemas.openxmlformats.org/drawingml/2006/table">
            <a:tbl>
              <a:tblPr/>
              <a:tblGrid>
                <a:gridCol w="329184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502920">
                <a:tc>
                  <a:txBody>
                    <a:bodyPr/>
                    <a:lstStyle/>
                    <a:p>
                      <a:pPr marL="0" indent="0" algn="l">
                        <a:buNone/>
                      </a:pPr>
                      <a:r>
                        <a:rPr lang="en-US" sz="1200" b="1" dirty="0">
                          <a:solidFill>
                            <a:srgbClr val="FFFFFF"/>
                          </a:solidFill>
                        </a:rPr>
                        <a:t>KPI</a:t>
                      </a:r>
                      <a:endParaRPr lang="en-US" sz="120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l">
                        <a:buNone/>
                      </a:pPr>
                      <a:r>
                        <a:rPr lang="en-US" sz="1200" b="1" dirty="0">
                          <a:solidFill>
                            <a:srgbClr val="FFFFFF"/>
                          </a:solidFill>
                        </a:rPr>
                        <a:t>Definition</a:t>
                      </a:r>
                      <a:endParaRPr lang="en-US" sz="120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ctr">
                        <a:buNone/>
                      </a:pPr>
                      <a:r>
                        <a:rPr lang="en-US" sz="1200" b="1" dirty="0">
                          <a:solidFill>
                            <a:srgbClr val="FFFFFF"/>
                          </a:solidFill>
                        </a:rPr>
                        <a:t>Layer</a:t>
                      </a:r>
                      <a:endParaRPr lang="en-US" sz="120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502920">
                <a:tc>
                  <a:txBody>
                    <a:bodyPr/>
                    <a:lstStyle/>
                    <a:p>
                      <a:pPr marL="0" indent="0" algn="l">
                        <a:buNone/>
                      </a:pPr>
                      <a:r>
                        <a:rPr lang="en-US" sz="1150" dirty="0">
                          <a:solidFill>
                            <a:srgbClr val="0B1F3A"/>
                          </a:solidFill>
                        </a:rPr>
                        <a:t>Gross Revenue</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3B"/>
                          </a:solidFill>
                        </a:rPr>
                        <a:t>SUM(price_usd) across all order line items</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3B"/>
                          </a:solidFill>
                        </a:rPr>
                        <a:t>SQL</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150" dirty="0">
                          <a:solidFill>
                            <a:srgbClr val="0B1F3A"/>
                          </a:solidFill>
                        </a:rPr>
                        <a:t>Gross Margin %</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l">
                        <a:buNone/>
                      </a:pPr>
                      <a:r>
                        <a:rPr lang="en-US" sz="1150" dirty="0">
                          <a:solidFill>
                            <a:srgbClr val="16233B"/>
                          </a:solidFill>
                        </a:rPr>
                        <a:t>(Revenue − COGS) / Revenue × 100</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150" dirty="0">
                          <a:solidFill>
                            <a:srgbClr val="16233B"/>
                          </a:solidFill>
                        </a:rPr>
                        <a:t>SQL</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2"/>
                  </a:ext>
                </a:extLst>
              </a:tr>
              <a:tr h="502920">
                <a:tc>
                  <a:txBody>
                    <a:bodyPr/>
                    <a:lstStyle/>
                    <a:p>
                      <a:pPr marL="0" indent="0" algn="l">
                        <a:buNone/>
                      </a:pPr>
                      <a:r>
                        <a:rPr lang="en-US" sz="1150" dirty="0">
                          <a:solidFill>
                            <a:srgbClr val="0B1F3A"/>
                          </a:solidFill>
                        </a:rPr>
                        <a:t>Average Order Value (AOV)</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3B"/>
                          </a:solidFill>
                        </a:rPr>
                        <a:t>AVG(price_usd) per order</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3B"/>
                          </a:solidFill>
                        </a:rPr>
                        <a:t>SQL</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150" dirty="0">
                          <a:solidFill>
                            <a:srgbClr val="0B1F3A"/>
                          </a:solidFill>
                        </a:rPr>
                        <a:t>Net Revenue</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l">
                        <a:buNone/>
                      </a:pPr>
                      <a:r>
                        <a:rPr lang="en-US" sz="1150" dirty="0">
                          <a:solidFill>
                            <a:srgbClr val="16233B"/>
                          </a:solidFill>
                        </a:rPr>
                        <a:t>Gross Revenue − Total Refund Amount</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150" dirty="0">
                          <a:solidFill>
                            <a:srgbClr val="16233B"/>
                          </a:solidFill>
                        </a:rPr>
                        <a:t>SQL</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4"/>
                  </a:ext>
                </a:extLst>
              </a:tr>
              <a:tr h="502920">
                <a:tc>
                  <a:txBody>
                    <a:bodyPr/>
                    <a:lstStyle/>
                    <a:p>
                      <a:pPr marL="0" indent="0" algn="l">
                        <a:buNone/>
                      </a:pPr>
                      <a:r>
                        <a:rPr lang="en-US" sz="1150" dirty="0">
                          <a:solidFill>
                            <a:srgbClr val="0B1F3A"/>
                          </a:solidFill>
                        </a:rPr>
                        <a:t>Conversion Rate</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3B"/>
                          </a:solidFill>
                        </a:rPr>
                        <a:t>Converted Sessions / Total Sessions × 100</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3B"/>
                          </a:solidFill>
                        </a:rPr>
                        <a:t>SQL / Python</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150" dirty="0">
                          <a:solidFill>
                            <a:srgbClr val="0B1F3A"/>
                          </a:solidFill>
                        </a:rPr>
                        <a:t>Revenue per Session</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l">
                        <a:buNone/>
                      </a:pPr>
                      <a:r>
                        <a:rPr lang="en-US" sz="1150" dirty="0">
                          <a:solidFill>
                            <a:srgbClr val="16233B"/>
                          </a:solidFill>
                        </a:rPr>
                        <a:t>Gross Revenue / Total Sessions</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150" dirty="0">
                          <a:solidFill>
                            <a:srgbClr val="16233B"/>
                          </a:solidFill>
                        </a:rPr>
                        <a:t>SQL / Power BI</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6"/>
                  </a:ext>
                </a:extLst>
              </a:tr>
              <a:tr h="502920">
                <a:tc>
                  <a:txBody>
                    <a:bodyPr/>
                    <a:lstStyle/>
                    <a:p>
                      <a:pPr marL="0" indent="0" algn="l">
                        <a:buNone/>
                      </a:pPr>
                      <a:r>
                        <a:rPr lang="en-US" sz="1150" dirty="0">
                          <a:solidFill>
                            <a:srgbClr val="0B1F3A"/>
                          </a:solidFill>
                        </a:rPr>
                        <a:t>Refund Rate</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6233B"/>
                          </a:solidFill>
                        </a:rPr>
                        <a:t>Refund Amount / Revenue × 100</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33B"/>
                          </a:solidFill>
                        </a:rPr>
                        <a:t>SQL / Power BI</a:t>
                      </a:r>
                      <a:endParaRPr lang="en-US" sz="1150" dirty="0"/>
                    </a:p>
                  </a:txBody>
                  <a:tcPr marL="109728" marR="109728" marT="54864" marB="54864"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6" name="Text 5"/>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377440" cy="292608"/>
          </a:xfrm>
          <a:prstGeom prst="roundRect">
            <a:avLst>
              <a:gd name="adj" fmla="val 25000"/>
            </a:avLst>
          </a:prstGeom>
          <a:solidFill>
            <a:srgbClr val="F2B134"/>
          </a:solidFill>
          <a:ln/>
        </p:spPr>
      </p:sp>
      <p:sp>
        <p:nvSpPr>
          <p:cNvPr id="3" name="Text 1"/>
          <p:cNvSpPr/>
          <p:nvPr/>
        </p:nvSpPr>
        <p:spPr>
          <a:xfrm>
            <a:off x="502920" y="384048"/>
            <a:ext cx="2377440"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DESCRIPTIVE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Executive KPI Snapshot</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SQL final KPI snapshot – Dec 2012 to Apr 2015, validated against Power BI</a:t>
            </a:r>
            <a:endParaRPr lang="en-US" sz="1300" dirty="0"/>
          </a:p>
        </p:txBody>
      </p:sp>
      <p:sp>
        <p:nvSpPr>
          <p:cNvPr id="6" name="Shape 4"/>
          <p:cNvSpPr/>
          <p:nvPr/>
        </p:nvSpPr>
        <p:spPr>
          <a:xfrm>
            <a:off x="548640" y="1965960"/>
            <a:ext cx="2587752" cy="1417320"/>
          </a:xfrm>
          <a:prstGeom prst="roundRect">
            <a:avLst>
              <a:gd name="adj" fmla="val 5806"/>
            </a:avLst>
          </a:prstGeom>
          <a:solidFill>
            <a:srgbClr val="FFFFFF"/>
          </a:solidFill>
          <a:ln w="12700">
            <a:solidFill>
              <a:srgbClr val="E1E6EF"/>
            </a:solidFill>
            <a:prstDash val="solid"/>
          </a:ln>
        </p:spPr>
      </p:sp>
      <p:sp>
        <p:nvSpPr>
          <p:cNvPr id="7" name="Shape 5"/>
          <p:cNvSpPr/>
          <p:nvPr/>
        </p:nvSpPr>
        <p:spPr>
          <a:xfrm>
            <a:off x="749808" y="2148840"/>
            <a:ext cx="128016" cy="128016"/>
          </a:xfrm>
          <a:prstGeom prst="ellipse">
            <a:avLst/>
          </a:prstGeom>
          <a:solidFill>
            <a:srgbClr val="0B1F3A"/>
          </a:solidFill>
          <a:ln/>
        </p:spPr>
      </p:sp>
      <p:sp>
        <p:nvSpPr>
          <p:cNvPr id="8" name="Text 6"/>
          <p:cNvSpPr/>
          <p:nvPr/>
        </p:nvSpPr>
        <p:spPr>
          <a:xfrm>
            <a:off x="749808" y="23317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$1.94M</a:t>
            </a:r>
            <a:endParaRPr lang="en-US" sz="2500" dirty="0"/>
          </a:p>
        </p:txBody>
      </p:sp>
      <p:sp>
        <p:nvSpPr>
          <p:cNvPr id="9" name="Text 7"/>
          <p:cNvSpPr/>
          <p:nvPr/>
        </p:nvSpPr>
        <p:spPr>
          <a:xfrm>
            <a:off x="749808" y="29352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Gross Revenue</a:t>
            </a:r>
            <a:endParaRPr lang="en-US" sz="1050" dirty="0"/>
          </a:p>
        </p:txBody>
      </p:sp>
      <p:sp>
        <p:nvSpPr>
          <p:cNvPr id="10" name="Shape 8"/>
          <p:cNvSpPr/>
          <p:nvPr/>
        </p:nvSpPr>
        <p:spPr>
          <a:xfrm>
            <a:off x="3319272" y="1965960"/>
            <a:ext cx="2587752" cy="1417320"/>
          </a:xfrm>
          <a:prstGeom prst="roundRect">
            <a:avLst>
              <a:gd name="adj" fmla="val 5806"/>
            </a:avLst>
          </a:prstGeom>
          <a:solidFill>
            <a:srgbClr val="FFFFFF"/>
          </a:solidFill>
          <a:ln w="12700">
            <a:solidFill>
              <a:srgbClr val="E1E6EF"/>
            </a:solidFill>
            <a:prstDash val="solid"/>
          </a:ln>
        </p:spPr>
      </p:sp>
      <p:sp>
        <p:nvSpPr>
          <p:cNvPr id="11" name="Shape 9"/>
          <p:cNvSpPr/>
          <p:nvPr/>
        </p:nvSpPr>
        <p:spPr>
          <a:xfrm>
            <a:off x="3520440" y="2148840"/>
            <a:ext cx="128016" cy="128016"/>
          </a:xfrm>
          <a:prstGeom prst="ellipse">
            <a:avLst/>
          </a:prstGeom>
          <a:solidFill>
            <a:srgbClr val="1C7293"/>
          </a:solidFill>
          <a:ln/>
        </p:spPr>
      </p:sp>
      <p:sp>
        <p:nvSpPr>
          <p:cNvPr id="12" name="Text 10"/>
          <p:cNvSpPr/>
          <p:nvPr/>
        </p:nvSpPr>
        <p:spPr>
          <a:xfrm>
            <a:off x="3520440" y="23317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32,313</a:t>
            </a:r>
            <a:endParaRPr lang="en-US" sz="2500" dirty="0"/>
          </a:p>
        </p:txBody>
      </p:sp>
      <p:sp>
        <p:nvSpPr>
          <p:cNvPr id="13" name="Text 11"/>
          <p:cNvSpPr/>
          <p:nvPr/>
        </p:nvSpPr>
        <p:spPr>
          <a:xfrm>
            <a:off x="3520440" y="29352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Total Orders</a:t>
            </a:r>
            <a:endParaRPr lang="en-US" sz="1050" dirty="0"/>
          </a:p>
        </p:txBody>
      </p:sp>
      <p:sp>
        <p:nvSpPr>
          <p:cNvPr id="14" name="Shape 12"/>
          <p:cNvSpPr/>
          <p:nvPr/>
        </p:nvSpPr>
        <p:spPr>
          <a:xfrm>
            <a:off x="6089904" y="1965960"/>
            <a:ext cx="2587752" cy="1417320"/>
          </a:xfrm>
          <a:prstGeom prst="roundRect">
            <a:avLst>
              <a:gd name="adj" fmla="val 5806"/>
            </a:avLst>
          </a:prstGeom>
          <a:solidFill>
            <a:srgbClr val="FFFFFF"/>
          </a:solidFill>
          <a:ln w="12700">
            <a:solidFill>
              <a:srgbClr val="E1E6EF"/>
            </a:solidFill>
            <a:prstDash val="solid"/>
          </a:ln>
        </p:spPr>
      </p:sp>
      <p:sp>
        <p:nvSpPr>
          <p:cNvPr id="15" name="Shape 13"/>
          <p:cNvSpPr/>
          <p:nvPr/>
        </p:nvSpPr>
        <p:spPr>
          <a:xfrm>
            <a:off x="6291072" y="2148840"/>
            <a:ext cx="128016" cy="128016"/>
          </a:xfrm>
          <a:prstGeom prst="ellipse">
            <a:avLst/>
          </a:prstGeom>
          <a:solidFill>
            <a:srgbClr val="1C7293"/>
          </a:solidFill>
          <a:ln/>
        </p:spPr>
      </p:sp>
      <p:sp>
        <p:nvSpPr>
          <p:cNvPr id="16" name="Text 14"/>
          <p:cNvSpPr/>
          <p:nvPr/>
        </p:nvSpPr>
        <p:spPr>
          <a:xfrm>
            <a:off x="6291072" y="23317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472,871</a:t>
            </a:r>
            <a:endParaRPr lang="en-US" sz="2500" dirty="0"/>
          </a:p>
        </p:txBody>
      </p:sp>
      <p:sp>
        <p:nvSpPr>
          <p:cNvPr id="17" name="Text 15"/>
          <p:cNvSpPr/>
          <p:nvPr/>
        </p:nvSpPr>
        <p:spPr>
          <a:xfrm>
            <a:off x="6291072" y="29352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Website Sessions</a:t>
            </a:r>
            <a:endParaRPr lang="en-US" sz="1050" dirty="0"/>
          </a:p>
        </p:txBody>
      </p:sp>
      <p:sp>
        <p:nvSpPr>
          <p:cNvPr id="18" name="Shape 16"/>
          <p:cNvSpPr/>
          <p:nvPr/>
        </p:nvSpPr>
        <p:spPr>
          <a:xfrm>
            <a:off x="8860536" y="1965960"/>
            <a:ext cx="2587752" cy="1417320"/>
          </a:xfrm>
          <a:prstGeom prst="roundRect">
            <a:avLst>
              <a:gd name="adj" fmla="val 5806"/>
            </a:avLst>
          </a:prstGeom>
          <a:solidFill>
            <a:srgbClr val="FFFFFF"/>
          </a:solidFill>
          <a:ln w="12700">
            <a:solidFill>
              <a:srgbClr val="E1E6EF"/>
            </a:solidFill>
            <a:prstDash val="solid"/>
          </a:ln>
        </p:spPr>
      </p:sp>
      <p:sp>
        <p:nvSpPr>
          <p:cNvPr id="19" name="Shape 17"/>
          <p:cNvSpPr/>
          <p:nvPr/>
        </p:nvSpPr>
        <p:spPr>
          <a:xfrm>
            <a:off x="9061704" y="2148840"/>
            <a:ext cx="128016" cy="128016"/>
          </a:xfrm>
          <a:prstGeom prst="ellipse">
            <a:avLst/>
          </a:prstGeom>
          <a:solidFill>
            <a:srgbClr val="C9891A"/>
          </a:solidFill>
          <a:ln/>
        </p:spPr>
      </p:sp>
      <p:sp>
        <p:nvSpPr>
          <p:cNvPr id="20" name="Text 18"/>
          <p:cNvSpPr/>
          <p:nvPr/>
        </p:nvSpPr>
        <p:spPr>
          <a:xfrm>
            <a:off x="9061704" y="23317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6.83%</a:t>
            </a:r>
            <a:endParaRPr lang="en-US" sz="2500" dirty="0"/>
          </a:p>
        </p:txBody>
      </p:sp>
      <p:sp>
        <p:nvSpPr>
          <p:cNvPr id="21" name="Text 19"/>
          <p:cNvSpPr/>
          <p:nvPr/>
        </p:nvSpPr>
        <p:spPr>
          <a:xfrm>
            <a:off x="9061704" y="29352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Conversion Rate</a:t>
            </a:r>
            <a:endParaRPr lang="en-US" sz="1050" dirty="0"/>
          </a:p>
        </p:txBody>
      </p:sp>
      <p:sp>
        <p:nvSpPr>
          <p:cNvPr id="22" name="Shape 20"/>
          <p:cNvSpPr/>
          <p:nvPr/>
        </p:nvSpPr>
        <p:spPr>
          <a:xfrm>
            <a:off x="548640" y="3566160"/>
            <a:ext cx="2587752" cy="1417320"/>
          </a:xfrm>
          <a:prstGeom prst="roundRect">
            <a:avLst>
              <a:gd name="adj" fmla="val 5806"/>
            </a:avLst>
          </a:prstGeom>
          <a:solidFill>
            <a:srgbClr val="FFFFFF"/>
          </a:solidFill>
          <a:ln w="12700">
            <a:solidFill>
              <a:srgbClr val="E1E6EF"/>
            </a:solidFill>
            <a:prstDash val="solid"/>
          </a:ln>
        </p:spPr>
      </p:sp>
      <p:sp>
        <p:nvSpPr>
          <p:cNvPr id="23" name="Shape 21"/>
          <p:cNvSpPr/>
          <p:nvPr/>
        </p:nvSpPr>
        <p:spPr>
          <a:xfrm>
            <a:off x="749808" y="3749040"/>
            <a:ext cx="128016" cy="128016"/>
          </a:xfrm>
          <a:prstGeom prst="ellipse">
            <a:avLst/>
          </a:prstGeom>
          <a:solidFill>
            <a:srgbClr val="0B1F3A"/>
          </a:solidFill>
          <a:ln/>
        </p:spPr>
      </p:sp>
      <p:sp>
        <p:nvSpPr>
          <p:cNvPr id="24" name="Text 22"/>
          <p:cNvSpPr/>
          <p:nvPr/>
        </p:nvSpPr>
        <p:spPr>
          <a:xfrm>
            <a:off x="749808" y="39319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$59.99</a:t>
            </a:r>
            <a:endParaRPr lang="en-US" sz="2500" dirty="0"/>
          </a:p>
        </p:txBody>
      </p:sp>
      <p:sp>
        <p:nvSpPr>
          <p:cNvPr id="25" name="Text 23"/>
          <p:cNvSpPr/>
          <p:nvPr/>
        </p:nvSpPr>
        <p:spPr>
          <a:xfrm>
            <a:off x="749808" y="45354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Avg. Order Value</a:t>
            </a:r>
            <a:endParaRPr lang="en-US" sz="1050" dirty="0"/>
          </a:p>
        </p:txBody>
      </p:sp>
      <p:sp>
        <p:nvSpPr>
          <p:cNvPr id="26" name="Shape 24"/>
          <p:cNvSpPr/>
          <p:nvPr/>
        </p:nvSpPr>
        <p:spPr>
          <a:xfrm>
            <a:off x="3319272" y="3566160"/>
            <a:ext cx="2587752" cy="1417320"/>
          </a:xfrm>
          <a:prstGeom prst="roundRect">
            <a:avLst>
              <a:gd name="adj" fmla="val 5806"/>
            </a:avLst>
          </a:prstGeom>
          <a:solidFill>
            <a:srgbClr val="FFFFFF"/>
          </a:solidFill>
          <a:ln w="12700">
            <a:solidFill>
              <a:srgbClr val="E1E6EF"/>
            </a:solidFill>
            <a:prstDash val="solid"/>
          </a:ln>
        </p:spPr>
      </p:sp>
      <p:sp>
        <p:nvSpPr>
          <p:cNvPr id="27" name="Shape 25"/>
          <p:cNvSpPr/>
          <p:nvPr/>
        </p:nvSpPr>
        <p:spPr>
          <a:xfrm>
            <a:off x="3520440" y="3749040"/>
            <a:ext cx="128016" cy="128016"/>
          </a:xfrm>
          <a:prstGeom prst="ellipse">
            <a:avLst/>
          </a:prstGeom>
          <a:solidFill>
            <a:srgbClr val="3FA796"/>
          </a:solidFill>
          <a:ln/>
        </p:spPr>
      </p:sp>
      <p:sp>
        <p:nvSpPr>
          <p:cNvPr id="28" name="Text 26"/>
          <p:cNvSpPr/>
          <p:nvPr/>
        </p:nvSpPr>
        <p:spPr>
          <a:xfrm>
            <a:off x="3520440" y="39319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62.74%</a:t>
            </a:r>
            <a:endParaRPr lang="en-US" sz="2500" dirty="0"/>
          </a:p>
        </p:txBody>
      </p:sp>
      <p:sp>
        <p:nvSpPr>
          <p:cNvPr id="29" name="Text 27"/>
          <p:cNvSpPr/>
          <p:nvPr/>
        </p:nvSpPr>
        <p:spPr>
          <a:xfrm>
            <a:off x="3520440" y="45354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Gross Margin</a:t>
            </a:r>
            <a:endParaRPr lang="en-US" sz="1050" dirty="0"/>
          </a:p>
        </p:txBody>
      </p:sp>
      <p:sp>
        <p:nvSpPr>
          <p:cNvPr id="30" name="Shape 28"/>
          <p:cNvSpPr/>
          <p:nvPr/>
        </p:nvSpPr>
        <p:spPr>
          <a:xfrm>
            <a:off x="6089904" y="3566160"/>
            <a:ext cx="2587752" cy="1417320"/>
          </a:xfrm>
          <a:prstGeom prst="roundRect">
            <a:avLst>
              <a:gd name="adj" fmla="val 5806"/>
            </a:avLst>
          </a:prstGeom>
          <a:solidFill>
            <a:srgbClr val="FFFFFF"/>
          </a:solidFill>
          <a:ln w="12700">
            <a:solidFill>
              <a:srgbClr val="E1E6EF"/>
            </a:solidFill>
            <a:prstDash val="solid"/>
          </a:ln>
        </p:spPr>
      </p:sp>
      <p:sp>
        <p:nvSpPr>
          <p:cNvPr id="31" name="Shape 29"/>
          <p:cNvSpPr/>
          <p:nvPr/>
        </p:nvSpPr>
        <p:spPr>
          <a:xfrm>
            <a:off x="6291072" y="3749040"/>
            <a:ext cx="128016" cy="128016"/>
          </a:xfrm>
          <a:prstGeom prst="ellipse">
            <a:avLst/>
          </a:prstGeom>
          <a:solidFill>
            <a:srgbClr val="3FA796"/>
          </a:solidFill>
          <a:ln/>
        </p:spPr>
      </p:sp>
      <p:sp>
        <p:nvSpPr>
          <p:cNvPr id="32" name="Text 30"/>
          <p:cNvSpPr/>
          <p:nvPr/>
        </p:nvSpPr>
        <p:spPr>
          <a:xfrm>
            <a:off x="6291072" y="39319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$1.22M</a:t>
            </a:r>
            <a:endParaRPr lang="en-US" sz="2500" dirty="0"/>
          </a:p>
        </p:txBody>
      </p:sp>
      <p:sp>
        <p:nvSpPr>
          <p:cNvPr id="33" name="Text 31"/>
          <p:cNvSpPr/>
          <p:nvPr/>
        </p:nvSpPr>
        <p:spPr>
          <a:xfrm>
            <a:off x="6291072" y="45354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Gross Profit</a:t>
            </a:r>
            <a:endParaRPr lang="en-US" sz="1050" dirty="0"/>
          </a:p>
        </p:txBody>
      </p:sp>
      <p:sp>
        <p:nvSpPr>
          <p:cNvPr id="34" name="Shape 32"/>
          <p:cNvSpPr/>
          <p:nvPr/>
        </p:nvSpPr>
        <p:spPr>
          <a:xfrm>
            <a:off x="8860536" y="3566160"/>
            <a:ext cx="2587752" cy="1417320"/>
          </a:xfrm>
          <a:prstGeom prst="roundRect">
            <a:avLst>
              <a:gd name="adj" fmla="val 5806"/>
            </a:avLst>
          </a:prstGeom>
          <a:solidFill>
            <a:srgbClr val="FFFFFF"/>
          </a:solidFill>
          <a:ln w="12700">
            <a:solidFill>
              <a:srgbClr val="E1E6EF"/>
            </a:solidFill>
            <a:prstDash val="solid"/>
          </a:ln>
        </p:spPr>
      </p:sp>
      <p:sp>
        <p:nvSpPr>
          <p:cNvPr id="35" name="Shape 33"/>
          <p:cNvSpPr/>
          <p:nvPr/>
        </p:nvSpPr>
        <p:spPr>
          <a:xfrm>
            <a:off x="9061704" y="3749040"/>
            <a:ext cx="128016" cy="128016"/>
          </a:xfrm>
          <a:prstGeom prst="ellipse">
            <a:avLst/>
          </a:prstGeom>
          <a:solidFill>
            <a:srgbClr val="C1443A"/>
          </a:solidFill>
          <a:ln/>
        </p:spPr>
      </p:sp>
      <p:sp>
        <p:nvSpPr>
          <p:cNvPr id="36" name="Text 34"/>
          <p:cNvSpPr/>
          <p:nvPr/>
        </p:nvSpPr>
        <p:spPr>
          <a:xfrm>
            <a:off x="9061704" y="3931920"/>
            <a:ext cx="2221992" cy="548640"/>
          </a:xfrm>
          <a:prstGeom prst="rect">
            <a:avLst/>
          </a:prstGeom>
          <a:noFill/>
          <a:ln/>
        </p:spPr>
        <p:txBody>
          <a:bodyPr wrap="square" lIns="0" tIns="0" rIns="0" bIns="0" rtlCol="0" anchor="ctr"/>
          <a:lstStyle/>
          <a:p>
            <a:pPr marL="0" indent="0">
              <a:buNone/>
            </a:pPr>
            <a:r>
              <a:rPr lang="en-US" sz="2500" b="1" dirty="0">
                <a:solidFill>
                  <a:srgbClr val="0B1F3A"/>
                </a:solidFill>
                <a:latin typeface="Cambria" pitchFamily="34" charset="0"/>
                <a:ea typeface="Cambria" pitchFamily="34" charset="-122"/>
                <a:cs typeface="Cambria" pitchFamily="34" charset="-120"/>
              </a:rPr>
              <a:t>$85.3K</a:t>
            </a:r>
            <a:endParaRPr lang="en-US" sz="2500" dirty="0"/>
          </a:p>
        </p:txBody>
      </p:sp>
      <p:sp>
        <p:nvSpPr>
          <p:cNvPr id="37" name="Text 35"/>
          <p:cNvSpPr/>
          <p:nvPr/>
        </p:nvSpPr>
        <p:spPr>
          <a:xfrm>
            <a:off x="9061704" y="4535424"/>
            <a:ext cx="2267712" cy="402336"/>
          </a:xfrm>
          <a:prstGeom prst="rect">
            <a:avLst/>
          </a:prstGeom>
          <a:noFill/>
          <a:ln/>
        </p:spPr>
        <p:txBody>
          <a:bodyPr wrap="square" lIns="0" tIns="0" rIns="0" bIns="0" rtlCol="0" anchor="ctr"/>
          <a:lstStyle/>
          <a:p>
            <a:pPr marL="0" indent="0">
              <a:lnSpc>
                <a:spcPct val="105000"/>
              </a:lnSpc>
              <a:buNone/>
            </a:pPr>
            <a:r>
              <a:rPr lang="en-US" sz="1050" dirty="0">
                <a:solidFill>
                  <a:srgbClr val="5B6A82"/>
                </a:solidFill>
                <a:latin typeface="Calibri" pitchFamily="34" charset="0"/>
                <a:ea typeface="Calibri" pitchFamily="34" charset="-122"/>
                <a:cs typeface="Calibri" pitchFamily="34" charset="-120"/>
              </a:rPr>
              <a:t>Total Refunds (4.40% of rev.)</a:t>
            </a:r>
            <a:endParaRPr lang="en-US" sz="1050" dirty="0"/>
          </a:p>
        </p:txBody>
      </p:sp>
      <p:sp>
        <p:nvSpPr>
          <p:cNvPr id="38" name="Text 36"/>
          <p:cNvSpPr/>
          <p:nvPr/>
        </p:nvSpPr>
        <p:spPr>
          <a:xfrm>
            <a:off x="548640" y="5257800"/>
            <a:ext cx="10607040" cy="365760"/>
          </a:xfrm>
          <a:prstGeom prst="rect">
            <a:avLst/>
          </a:prstGeom>
          <a:noFill/>
          <a:ln/>
        </p:spPr>
        <p:txBody>
          <a:bodyPr wrap="square" lIns="0" tIns="0" rIns="0" bIns="0" rtlCol="0" anchor="ctr"/>
          <a:lstStyle/>
          <a:p>
            <a:pPr marL="0" indent="0">
              <a:buNone/>
            </a:pPr>
            <a:r>
              <a:rPr lang="en-US" sz="1250" i="1" dirty="0">
                <a:solidFill>
                  <a:srgbClr val="5B6A82"/>
                </a:solidFill>
                <a:latin typeface="Calibri" pitchFamily="34" charset="0"/>
                <a:ea typeface="Calibri" pitchFamily="34" charset="-122"/>
                <a:cs typeface="Calibri" pitchFamily="34" charset="-120"/>
              </a:rPr>
              <a:t>Net Revenue: $1.85M    •    Total COGS: $722.4K    •    Revenue per Session: $4.10</a:t>
            </a:r>
            <a:endParaRPr lang="en-US" sz="1250" dirty="0"/>
          </a:p>
        </p:txBody>
      </p:sp>
      <p:sp>
        <p:nvSpPr>
          <p:cNvPr id="39" name="Text 37"/>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40" name="Text 38"/>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377440" cy="292608"/>
          </a:xfrm>
          <a:prstGeom prst="roundRect">
            <a:avLst>
              <a:gd name="adj" fmla="val 25000"/>
            </a:avLst>
          </a:prstGeom>
          <a:solidFill>
            <a:srgbClr val="F2B134"/>
          </a:solidFill>
          <a:ln/>
        </p:spPr>
      </p:sp>
      <p:sp>
        <p:nvSpPr>
          <p:cNvPr id="3" name="Text 1"/>
          <p:cNvSpPr/>
          <p:nvPr/>
        </p:nvSpPr>
        <p:spPr>
          <a:xfrm>
            <a:off x="502920" y="384048"/>
            <a:ext cx="2377440"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DESCRIPTIVE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Revenue &amp; Profitability Trends</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Power BI – Sales &amp; Profitability dashboard, connected live to SQL Server</a:t>
            </a:r>
            <a:endParaRPr lang="en-US" sz="1300" dirty="0"/>
          </a:p>
        </p:txBody>
      </p:sp>
      <p:sp>
        <p:nvSpPr>
          <p:cNvPr id="6" name="Shape 4"/>
          <p:cNvSpPr/>
          <p:nvPr/>
        </p:nvSpPr>
        <p:spPr>
          <a:xfrm>
            <a:off x="548640" y="1874520"/>
            <a:ext cx="8092440" cy="4434840"/>
          </a:xfrm>
          <a:prstGeom prst="roundRect">
            <a:avLst>
              <a:gd name="adj" fmla="val 185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dlbf/Sales &amp; Profitability.png"/>
          <p:cNvPicPr>
            <a:picLocks noChangeAspect="1"/>
          </p:cNvPicPr>
          <p:nvPr/>
        </p:nvPicPr>
        <p:blipFill>
          <a:blip r:embed="rId3"/>
          <a:stretch>
            <a:fillRect/>
          </a:stretch>
        </p:blipFill>
        <p:spPr>
          <a:xfrm>
            <a:off x="713232" y="2011680"/>
            <a:ext cx="7772400" cy="4178808"/>
          </a:xfrm>
          <a:prstGeom prst="rect">
            <a:avLst/>
          </a:prstGeom>
        </p:spPr>
      </p:pic>
      <p:sp>
        <p:nvSpPr>
          <p:cNvPr id="8" name="Shape 5"/>
          <p:cNvSpPr/>
          <p:nvPr/>
        </p:nvSpPr>
        <p:spPr>
          <a:xfrm>
            <a:off x="8823960" y="1874520"/>
            <a:ext cx="2816352" cy="4434840"/>
          </a:xfrm>
          <a:prstGeom prst="roundRect">
            <a:avLst>
              <a:gd name="adj" fmla="val 2922"/>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9" name="Text 6"/>
          <p:cNvSpPr/>
          <p:nvPr/>
        </p:nvSpPr>
        <p:spPr>
          <a:xfrm>
            <a:off x="9052560" y="2057400"/>
            <a:ext cx="2377440" cy="320040"/>
          </a:xfrm>
          <a:prstGeom prst="rect">
            <a:avLst/>
          </a:prstGeom>
          <a:noFill/>
          <a:ln/>
        </p:spPr>
        <p:txBody>
          <a:bodyPr wrap="square" lIns="0" tIns="0" rIns="0" bIns="0" rtlCol="0" anchor="ctr"/>
          <a:lstStyle/>
          <a:p>
            <a:pPr marL="0" indent="0">
              <a:buNone/>
            </a:pPr>
            <a:r>
              <a:rPr lang="en-US" sz="1300" b="1" dirty="0">
                <a:solidFill>
                  <a:srgbClr val="F2B134"/>
                </a:solidFill>
                <a:latin typeface="Calibri" pitchFamily="34" charset="0"/>
                <a:ea typeface="Calibri" pitchFamily="34" charset="-122"/>
                <a:cs typeface="Calibri" pitchFamily="34" charset="-120"/>
              </a:rPr>
              <a:t>Reading the Trend</a:t>
            </a:r>
            <a:endParaRPr lang="en-US" sz="1300" dirty="0"/>
          </a:p>
        </p:txBody>
      </p:sp>
      <p:sp>
        <p:nvSpPr>
          <p:cNvPr id="10" name="Text 7"/>
          <p:cNvSpPr/>
          <p:nvPr/>
        </p:nvSpPr>
        <p:spPr>
          <a:xfrm>
            <a:off x="9052560" y="2450592"/>
            <a:ext cx="2423160" cy="36576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Revenue &amp; gross profit peak in 2014, then taper into early 2015</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AOV climbs steadily from $58.99 to $61.82 over the window</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COGS tracks revenue closely, keeping margin stable near 62–63%</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Order volume declines faster than revenue – fewer, higher-value orders</a:t>
            </a:r>
            <a:endParaRPr lang="en-US" sz="1030" dirty="0"/>
          </a:p>
        </p:txBody>
      </p:sp>
      <p:sp>
        <p:nvSpPr>
          <p:cNvPr id="11" name="Text 8"/>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12" name="Text 9"/>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377440" cy="292608"/>
          </a:xfrm>
          <a:prstGeom prst="roundRect">
            <a:avLst>
              <a:gd name="adj" fmla="val 25000"/>
            </a:avLst>
          </a:prstGeom>
          <a:solidFill>
            <a:srgbClr val="F2B134"/>
          </a:solidFill>
          <a:ln/>
        </p:spPr>
      </p:sp>
      <p:sp>
        <p:nvSpPr>
          <p:cNvPr id="3" name="Text 1"/>
          <p:cNvSpPr/>
          <p:nvPr/>
        </p:nvSpPr>
        <p:spPr>
          <a:xfrm>
            <a:off x="502920" y="384048"/>
            <a:ext cx="2377440"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DESCRIPTIVE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Marketing &amp; Session Performance</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Power BI – Marketing &amp; Sessions dashboard</a:t>
            </a:r>
            <a:endParaRPr lang="en-US" sz="1300" dirty="0"/>
          </a:p>
        </p:txBody>
      </p:sp>
      <p:sp>
        <p:nvSpPr>
          <p:cNvPr id="6" name="Shape 4"/>
          <p:cNvSpPr/>
          <p:nvPr/>
        </p:nvSpPr>
        <p:spPr>
          <a:xfrm>
            <a:off x="548640" y="1874520"/>
            <a:ext cx="8092440" cy="4434840"/>
          </a:xfrm>
          <a:prstGeom prst="roundRect">
            <a:avLst>
              <a:gd name="adj" fmla="val 185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dlbf/Maketing &amp; Sessions.png"/>
          <p:cNvPicPr>
            <a:picLocks noChangeAspect="1"/>
          </p:cNvPicPr>
          <p:nvPr/>
        </p:nvPicPr>
        <p:blipFill>
          <a:blip r:embed="rId3"/>
          <a:stretch>
            <a:fillRect/>
          </a:stretch>
        </p:blipFill>
        <p:spPr>
          <a:xfrm>
            <a:off x="713232" y="2011680"/>
            <a:ext cx="7772400" cy="4178808"/>
          </a:xfrm>
          <a:prstGeom prst="rect">
            <a:avLst/>
          </a:prstGeom>
        </p:spPr>
      </p:pic>
      <p:sp>
        <p:nvSpPr>
          <p:cNvPr id="8" name="Shape 5"/>
          <p:cNvSpPr/>
          <p:nvPr/>
        </p:nvSpPr>
        <p:spPr>
          <a:xfrm>
            <a:off x="8823960" y="1874520"/>
            <a:ext cx="2816352" cy="4434840"/>
          </a:xfrm>
          <a:prstGeom prst="roundRect">
            <a:avLst>
              <a:gd name="adj" fmla="val 2922"/>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9" name="Text 6"/>
          <p:cNvSpPr/>
          <p:nvPr/>
        </p:nvSpPr>
        <p:spPr>
          <a:xfrm>
            <a:off x="9052560" y="2057400"/>
            <a:ext cx="2377440" cy="320040"/>
          </a:xfrm>
          <a:prstGeom prst="rect">
            <a:avLst/>
          </a:prstGeom>
          <a:noFill/>
          <a:ln/>
        </p:spPr>
        <p:txBody>
          <a:bodyPr wrap="square" lIns="0" tIns="0" rIns="0" bIns="0" rtlCol="0" anchor="ctr"/>
          <a:lstStyle/>
          <a:p>
            <a:pPr marL="0" indent="0">
              <a:buNone/>
            </a:pPr>
            <a:r>
              <a:rPr lang="en-US" sz="1300" b="1" dirty="0">
                <a:solidFill>
                  <a:srgbClr val="F2B134"/>
                </a:solidFill>
                <a:latin typeface="Calibri" pitchFamily="34" charset="0"/>
                <a:ea typeface="Calibri" pitchFamily="34" charset="-122"/>
                <a:cs typeface="Calibri" pitchFamily="34" charset="-120"/>
              </a:rPr>
              <a:t>Reading the Trend</a:t>
            </a:r>
            <a:endParaRPr lang="en-US" sz="1300" dirty="0"/>
          </a:p>
        </p:txBody>
      </p:sp>
      <p:sp>
        <p:nvSpPr>
          <p:cNvPr id="10" name="Text 7"/>
          <p:cNvSpPr/>
          <p:nvPr/>
        </p:nvSpPr>
        <p:spPr>
          <a:xfrm>
            <a:off x="9052560" y="2450592"/>
            <a:ext cx="2423160" cy="36576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Google Search drives 67% of all sessions (316K of 473K)</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Desktop converts nearly 3x better than mobile (8.50% vs 3.09%)</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Repeat sessions are only 17% of traffic but convert better (7.83% vs 6.64%)</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Overall conversion rate has drifted down from ~8.7% to ~6.8%</a:t>
            </a:r>
            <a:endParaRPr lang="en-US" sz="1030" dirty="0"/>
          </a:p>
        </p:txBody>
      </p:sp>
      <p:sp>
        <p:nvSpPr>
          <p:cNvPr id="11" name="Text 8"/>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12" name="Text 9"/>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377440" cy="292608"/>
          </a:xfrm>
          <a:prstGeom prst="roundRect">
            <a:avLst>
              <a:gd name="adj" fmla="val 25000"/>
            </a:avLst>
          </a:prstGeom>
          <a:solidFill>
            <a:srgbClr val="F2B134"/>
          </a:solidFill>
          <a:ln/>
        </p:spPr>
      </p:sp>
      <p:sp>
        <p:nvSpPr>
          <p:cNvPr id="3" name="Text 1"/>
          <p:cNvSpPr/>
          <p:nvPr/>
        </p:nvSpPr>
        <p:spPr>
          <a:xfrm>
            <a:off x="502920" y="384048"/>
            <a:ext cx="2377440"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DESCRIPTIVE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Product Performance &amp; Refunds</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Power BI – Product &amp; Refunds dashboard</a:t>
            </a:r>
            <a:endParaRPr lang="en-US" sz="1300" dirty="0"/>
          </a:p>
        </p:txBody>
      </p:sp>
      <p:sp>
        <p:nvSpPr>
          <p:cNvPr id="6" name="Shape 4"/>
          <p:cNvSpPr/>
          <p:nvPr/>
        </p:nvSpPr>
        <p:spPr>
          <a:xfrm>
            <a:off x="548640" y="1874520"/>
            <a:ext cx="8092440" cy="4434840"/>
          </a:xfrm>
          <a:prstGeom prst="roundRect">
            <a:avLst>
              <a:gd name="adj" fmla="val 185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dlbf/Products &amp; Refunds.png"/>
          <p:cNvPicPr>
            <a:picLocks noChangeAspect="1"/>
          </p:cNvPicPr>
          <p:nvPr/>
        </p:nvPicPr>
        <p:blipFill>
          <a:blip r:embed="rId3"/>
          <a:stretch>
            <a:fillRect/>
          </a:stretch>
        </p:blipFill>
        <p:spPr>
          <a:xfrm>
            <a:off x="713232" y="2011680"/>
            <a:ext cx="7772400" cy="4178808"/>
          </a:xfrm>
          <a:prstGeom prst="rect">
            <a:avLst/>
          </a:prstGeom>
        </p:spPr>
      </p:pic>
      <p:sp>
        <p:nvSpPr>
          <p:cNvPr id="8" name="Shape 5"/>
          <p:cNvSpPr/>
          <p:nvPr/>
        </p:nvSpPr>
        <p:spPr>
          <a:xfrm>
            <a:off x="8823960" y="1874520"/>
            <a:ext cx="2816352" cy="4434840"/>
          </a:xfrm>
          <a:prstGeom prst="roundRect">
            <a:avLst>
              <a:gd name="adj" fmla="val 2922"/>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9" name="Text 6"/>
          <p:cNvSpPr/>
          <p:nvPr/>
        </p:nvSpPr>
        <p:spPr>
          <a:xfrm>
            <a:off x="9052560" y="2057400"/>
            <a:ext cx="2377440" cy="320040"/>
          </a:xfrm>
          <a:prstGeom prst="rect">
            <a:avLst/>
          </a:prstGeom>
          <a:noFill/>
          <a:ln/>
        </p:spPr>
        <p:txBody>
          <a:bodyPr wrap="square" lIns="0" tIns="0" rIns="0" bIns="0" rtlCol="0" anchor="ctr"/>
          <a:lstStyle/>
          <a:p>
            <a:pPr marL="0" indent="0">
              <a:buNone/>
            </a:pPr>
            <a:r>
              <a:rPr lang="en-US" sz="1300" b="1" dirty="0">
                <a:solidFill>
                  <a:srgbClr val="F2B134"/>
                </a:solidFill>
                <a:latin typeface="Calibri" pitchFamily="34" charset="0"/>
                <a:ea typeface="Calibri" pitchFamily="34" charset="-122"/>
                <a:cs typeface="Calibri" pitchFamily="34" charset="-120"/>
              </a:rPr>
              <a:t>Reading the Trend</a:t>
            </a:r>
            <a:endParaRPr lang="en-US" sz="1300" dirty="0"/>
          </a:p>
        </p:txBody>
      </p:sp>
      <p:sp>
        <p:nvSpPr>
          <p:cNvPr id="10" name="Text 7"/>
          <p:cNvSpPr/>
          <p:nvPr/>
        </p:nvSpPr>
        <p:spPr>
          <a:xfrm>
            <a:off x="9052560" y="2450592"/>
            <a:ext cx="2423160" cy="36576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Mr. Fuzzy drives 62% of revenue but has the thinnest margin (61.0%)</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Birthday Sugar Panda has the best margin (68.5%) and highest refund rate (6.04%)</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Hudson River Mini Bear is the safest line: strong margin, lowest refunds (1.28%)</a:t>
            </a:r>
            <a:endParaRPr lang="en-US" sz="1030" dirty="0"/>
          </a:p>
          <a:p>
            <a:pPr marL="342900" indent="-342900">
              <a:lnSpc>
                <a:spcPct val="115000"/>
              </a:lnSpc>
              <a:spcAft>
                <a:spcPts val="1200"/>
              </a:spcAft>
              <a:buSzPct val="100000"/>
              <a:buChar char="•"/>
            </a:pPr>
            <a:r>
              <a:rPr lang="en-US" sz="1030" dirty="0">
                <a:solidFill>
                  <a:srgbClr val="E6ECF7"/>
                </a:solidFill>
                <a:latin typeface="Calibri" pitchFamily="34" charset="0"/>
                <a:ea typeface="Calibri" pitchFamily="34" charset="-122"/>
                <a:cs typeface="Calibri" pitchFamily="34" charset="-120"/>
              </a:rPr>
              <a:t>72% of all refund dollars come from Mr. Fuzzy alone ($61.8K)</a:t>
            </a:r>
            <a:endParaRPr lang="en-US" sz="1030" dirty="0"/>
          </a:p>
        </p:txBody>
      </p:sp>
      <p:sp>
        <p:nvSpPr>
          <p:cNvPr id="11" name="Text 8"/>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12" name="Text 9"/>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281428" cy="292608"/>
          </a:xfrm>
          <a:prstGeom prst="roundRect">
            <a:avLst>
              <a:gd name="adj" fmla="val 25000"/>
            </a:avLst>
          </a:prstGeom>
          <a:solidFill>
            <a:srgbClr val="F2B134"/>
          </a:solidFill>
          <a:ln/>
        </p:spPr>
      </p:sp>
      <p:sp>
        <p:nvSpPr>
          <p:cNvPr id="3" name="Text 1"/>
          <p:cNvSpPr/>
          <p:nvPr/>
        </p:nvSpPr>
        <p:spPr>
          <a:xfrm>
            <a:off x="502920" y="384048"/>
            <a:ext cx="2281428"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DIAGNOSTIC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Where Does Conversion Fall Short?</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Conversion rate by device — the single biggest performance gap in the funnel</a:t>
            </a:r>
            <a:endParaRPr lang="en-US" sz="1300" dirty="0"/>
          </a:p>
        </p:txBody>
      </p:sp>
      <p:graphicFrame>
        <p:nvGraphicFramePr>
          <p:cNvPr id="6" name="Chart 0"/>
          <p:cNvGraphicFramePr/>
          <p:nvPr/>
        </p:nvGraphicFramePr>
        <p:xfrm>
          <a:off x="548640" y="1965960"/>
          <a:ext cx="54864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309360" y="1965960"/>
            <a:ext cx="5330952" cy="4206240"/>
          </a:xfrm>
          <a:prstGeom prst="roundRect">
            <a:avLst>
              <a:gd name="adj" fmla="val 1957"/>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8" name="Text 5"/>
          <p:cNvSpPr/>
          <p:nvPr/>
        </p:nvSpPr>
        <p:spPr>
          <a:xfrm>
            <a:off x="6583680" y="2148840"/>
            <a:ext cx="4754880" cy="320040"/>
          </a:xfrm>
          <a:prstGeom prst="rect">
            <a:avLst/>
          </a:prstGeom>
          <a:noFill/>
          <a:ln/>
        </p:spPr>
        <p:txBody>
          <a:bodyPr wrap="square" lIns="0" tIns="0" rIns="0" bIns="0" rtlCol="0" anchor="ctr"/>
          <a:lstStyle/>
          <a:p>
            <a:pPr marL="0" indent="0">
              <a:buNone/>
            </a:pPr>
            <a:r>
              <a:rPr lang="en-US" sz="1400" b="1" dirty="0">
                <a:solidFill>
                  <a:srgbClr val="F2B134"/>
                </a:solidFill>
                <a:latin typeface="Calibri" pitchFamily="34" charset="0"/>
                <a:ea typeface="Calibri" pitchFamily="34" charset="-122"/>
                <a:cs typeface="Calibri" pitchFamily="34" charset="-120"/>
              </a:rPr>
              <a:t>Diagnostic Read-outs</a:t>
            </a:r>
            <a:endParaRPr lang="en-US" sz="1400" dirty="0"/>
          </a:p>
        </p:txBody>
      </p:sp>
      <p:sp>
        <p:nvSpPr>
          <p:cNvPr id="9" name="Text 6"/>
          <p:cNvSpPr/>
          <p:nvPr/>
        </p:nvSpPr>
        <p:spPr>
          <a:xfrm>
            <a:off x="6583680" y="2606040"/>
            <a:ext cx="47548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Device gap</a:t>
            </a:r>
            <a:endParaRPr lang="en-US" sz="1200" dirty="0"/>
          </a:p>
        </p:txBody>
      </p:sp>
      <p:sp>
        <p:nvSpPr>
          <p:cNvPr id="10" name="Text 7"/>
          <p:cNvSpPr/>
          <p:nvPr/>
        </p:nvSpPr>
        <p:spPr>
          <a:xfrm>
            <a:off x="6583680" y="2880360"/>
            <a:ext cx="4754880" cy="685800"/>
          </a:xfrm>
          <a:prstGeom prst="rect">
            <a:avLst/>
          </a:prstGeom>
          <a:noFill/>
          <a:ln/>
        </p:spPr>
        <p:txBody>
          <a:bodyPr wrap="square" lIns="0" tIns="0" rIns="0" bIns="0" rtlCol="0" anchor="ctr"/>
          <a:lstStyle/>
          <a:p>
            <a:pPr marL="0" indent="0">
              <a:lnSpc>
                <a:spcPct val="120000"/>
              </a:lnSpc>
              <a:buNone/>
            </a:pPr>
            <a:r>
              <a:rPr lang="en-US" sz="1080" dirty="0">
                <a:solidFill>
                  <a:srgbClr val="C7D3E8"/>
                </a:solidFill>
                <a:latin typeface="Calibri" pitchFamily="34" charset="0"/>
                <a:ea typeface="Calibri" pitchFamily="34" charset="-122"/>
                <a:cs typeface="Calibri" pitchFamily="34" charset="-120"/>
              </a:rPr>
              <a:t>Mobile converts at 3.09% vs desktop 8.50% – a 5.4 point gap despite mobile carrying 31% of all sessions (145.8K).</a:t>
            </a:r>
            <a:endParaRPr lang="en-US" sz="1080" dirty="0"/>
          </a:p>
        </p:txBody>
      </p:sp>
      <p:sp>
        <p:nvSpPr>
          <p:cNvPr id="11" name="Text 8"/>
          <p:cNvSpPr/>
          <p:nvPr/>
        </p:nvSpPr>
        <p:spPr>
          <a:xfrm>
            <a:off x="6583680" y="3721608"/>
            <a:ext cx="47548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Session type</a:t>
            </a:r>
            <a:endParaRPr lang="en-US" sz="1200" dirty="0"/>
          </a:p>
        </p:txBody>
      </p:sp>
      <p:sp>
        <p:nvSpPr>
          <p:cNvPr id="12" name="Text 9"/>
          <p:cNvSpPr/>
          <p:nvPr/>
        </p:nvSpPr>
        <p:spPr>
          <a:xfrm>
            <a:off x="6583680" y="3995928"/>
            <a:ext cx="4754880" cy="685800"/>
          </a:xfrm>
          <a:prstGeom prst="rect">
            <a:avLst/>
          </a:prstGeom>
          <a:noFill/>
          <a:ln/>
        </p:spPr>
        <p:txBody>
          <a:bodyPr wrap="square" lIns="0" tIns="0" rIns="0" bIns="0" rtlCol="0" anchor="ctr"/>
          <a:lstStyle/>
          <a:p>
            <a:pPr marL="0" indent="0">
              <a:lnSpc>
                <a:spcPct val="120000"/>
              </a:lnSpc>
              <a:buNone/>
            </a:pPr>
            <a:r>
              <a:rPr lang="en-US" sz="1080" dirty="0">
                <a:solidFill>
                  <a:srgbClr val="C7D3E8"/>
                </a:solidFill>
                <a:latin typeface="Calibri" pitchFamily="34" charset="0"/>
                <a:ea typeface="Calibri" pitchFamily="34" charset="-122"/>
                <a:cs typeface="Calibri" pitchFamily="34" charset="-120"/>
              </a:rPr>
              <a:t>Repeat sessions convert better than new (7.83% vs 6.64%), but make up only 17% of traffic – upside in remarketing.</a:t>
            </a:r>
            <a:endParaRPr lang="en-US" sz="1080" dirty="0"/>
          </a:p>
        </p:txBody>
      </p:sp>
      <p:sp>
        <p:nvSpPr>
          <p:cNvPr id="13" name="Text 10"/>
          <p:cNvSpPr/>
          <p:nvPr/>
        </p:nvSpPr>
        <p:spPr>
          <a:xfrm>
            <a:off x="6583680" y="4837176"/>
            <a:ext cx="47548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Revenue at risk</a:t>
            </a:r>
            <a:endParaRPr lang="en-US" sz="1200" dirty="0"/>
          </a:p>
        </p:txBody>
      </p:sp>
      <p:sp>
        <p:nvSpPr>
          <p:cNvPr id="14" name="Text 11"/>
          <p:cNvSpPr/>
          <p:nvPr/>
        </p:nvSpPr>
        <p:spPr>
          <a:xfrm>
            <a:off x="6583680" y="5111496"/>
            <a:ext cx="4754880" cy="685800"/>
          </a:xfrm>
          <a:prstGeom prst="rect">
            <a:avLst/>
          </a:prstGeom>
          <a:noFill/>
          <a:ln/>
        </p:spPr>
        <p:txBody>
          <a:bodyPr wrap="square" lIns="0" tIns="0" rIns="0" bIns="0" rtlCol="0" anchor="ctr"/>
          <a:lstStyle/>
          <a:p>
            <a:pPr marL="0" indent="0">
              <a:lnSpc>
                <a:spcPct val="120000"/>
              </a:lnSpc>
              <a:buNone/>
            </a:pPr>
            <a:r>
              <a:rPr lang="en-US" sz="1080" dirty="0">
                <a:solidFill>
                  <a:srgbClr val="C7D3E8"/>
                </a:solidFill>
                <a:latin typeface="Calibri" pitchFamily="34" charset="0"/>
                <a:ea typeface="Calibri" pitchFamily="34" charset="-122"/>
                <a:cs typeface="Calibri" pitchFamily="34" charset="-120"/>
              </a:rPr>
              <a:t>At desktop's conversion rate, mobile's 145.8K sessions would generate roughly $740K – about $470K more than today.</a:t>
            </a:r>
            <a:endParaRPr lang="en-US" sz="1080" dirty="0"/>
          </a:p>
        </p:txBody>
      </p:sp>
      <p:sp>
        <p:nvSpPr>
          <p:cNvPr id="15" name="Text 12"/>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16" name="Text 13"/>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281428" cy="292608"/>
          </a:xfrm>
          <a:prstGeom prst="roundRect">
            <a:avLst>
              <a:gd name="adj" fmla="val 25000"/>
            </a:avLst>
          </a:prstGeom>
          <a:solidFill>
            <a:srgbClr val="F2B134"/>
          </a:solidFill>
          <a:ln/>
        </p:spPr>
      </p:sp>
      <p:sp>
        <p:nvSpPr>
          <p:cNvPr id="3" name="Text 1"/>
          <p:cNvSpPr/>
          <p:nvPr/>
        </p:nvSpPr>
        <p:spPr>
          <a:xfrm>
            <a:off x="502920" y="384048"/>
            <a:ext cx="2281428"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DIAGNOSTIC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Channel Quality &amp; Product Risk</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Volume is not the same as value — looking beyond session/unit counts</a:t>
            </a:r>
            <a:endParaRPr lang="en-US" sz="1300" dirty="0"/>
          </a:p>
        </p:txBody>
      </p:sp>
      <p:sp>
        <p:nvSpPr>
          <p:cNvPr id="6" name="Text 4"/>
          <p:cNvSpPr/>
          <p:nvPr/>
        </p:nvSpPr>
        <p:spPr>
          <a:xfrm>
            <a:off x="548640" y="1828800"/>
            <a:ext cx="6400800" cy="27432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Marketing Channel Quality Matrix</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139696"/>
          <a:ext cx="5623560" cy="1828800"/>
        </p:xfrm>
        <a:graphic>
          <a:graphicData uri="http://schemas.openxmlformats.org/drawingml/2006/table">
            <a:tbl>
              <a:tblPr/>
              <a:tblGrid>
                <a:gridCol w="23317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65760">
                <a:tc>
                  <a:txBody>
                    <a:bodyPr/>
                    <a:lstStyle/>
                    <a:p>
                      <a:pPr marL="0" indent="0" algn="l">
                        <a:buNone/>
                      </a:pPr>
                      <a:r>
                        <a:rPr lang="en-US" sz="1100" b="1" dirty="0">
                          <a:solidFill>
                            <a:srgbClr val="FFFFFF"/>
                          </a:solidFill>
                        </a:rPr>
                        <a:t>Channel</a:t>
                      </a:r>
                      <a:endParaRPr lang="en-US" sz="110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rPr>
                        <a:t>Sessions</a:t>
                      </a:r>
                      <a:endParaRPr lang="en-US" sz="110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rPr>
                        <a:t>Conv. Rate</a:t>
                      </a:r>
                      <a:endParaRPr lang="en-US" sz="110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rPr>
                        <a:t>Rev / Session</a:t>
                      </a:r>
                      <a:endParaRPr lang="en-US" sz="110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65760">
                <a:tc>
                  <a:txBody>
                    <a:bodyPr/>
                    <a:lstStyle/>
                    <a:p>
                      <a:pPr marL="0" indent="0" algn="l">
                        <a:buNone/>
                      </a:pPr>
                      <a:r>
                        <a:rPr lang="en-US" sz="1080" dirty="0">
                          <a:solidFill>
                            <a:srgbClr val="16233B"/>
                          </a:solidFill>
                        </a:rPr>
                        <a:t>Direct / Organic (NULL)</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16233B"/>
                          </a:solidFill>
                        </a:rPr>
                        <a:t>83,328</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16233B"/>
                          </a:solidFill>
                        </a:rPr>
                        <a:t>7.34%</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16233B"/>
                          </a:solidFill>
                        </a:rPr>
                        <a:t>$4.46</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080" dirty="0">
                          <a:solidFill>
                            <a:srgbClr val="16233B"/>
                          </a:solidFill>
                        </a:rPr>
                        <a:t>bsearch</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80" dirty="0">
                          <a:solidFill>
                            <a:srgbClr val="16233B"/>
                          </a:solidFill>
                        </a:rPr>
                        <a:t>62,823</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80" dirty="0">
                          <a:solidFill>
                            <a:srgbClr val="16233B"/>
                          </a:solidFill>
                        </a:rPr>
                        <a:t>7.19%</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80" dirty="0">
                          <a:solidFill>
                            <a:srgbClr val="16233B"/>
                          </a:solidFill>
                        </a:rPr>
                        <a:t>$4.28</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2"/>
                  </a:ext>
                </a:extLst>
              </a:tr>
              <a:tr h="365760">
                <a:tc>
                  <a:txBody>
                    <a:bodyPr/>
                    <a:lstStyle/>
                    <a:p>
                      <a:pPr marL="0" indent="0" algn="l">
                        <a:buNone/>
                      </a:pPr>
                      <a:r>
                        <a:rPr lang="en-US" sz="1080" dirty="0">
                          <a:solidFill>
                            <a:srgbClr val="16233B"/>
                          </a:solidFill>
                        </a:rPr>
                        <a:t>gsearch</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16233B"/>
                          </a:solidFill>
                        </a:rPr>
                        <a:t>316,035</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16233B"/>
                          </a:solidFill>
                        </a:rPr>
                        <a:t>6.75%</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16233B"/>
                          </a:solidFill>
                        </a:rPr>
                        <a:t>$4.04</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80" dirty="0">
                          <a:solidFill>
                            <a:srgbClr val="16233B"/>
                          </a:solidFill>
                        </a:rPr>
                        <a:t>socialbook</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80" dirty="0">
                          <a:solidFill>
                            <a:srgbClr val="16233B"/>
                          </a:solidFill>
                        </a:rPr>
                        <a:t>10,685</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80" dirty="0">
                          <a:solidFill>
                            <a:srgbClr val="16233B"/>
                          </a:solidFill>
                        </a:rPr>
                        <a:t>3.21%</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80" dirty="0">
                          <a:solidFill>
                            <a:srgbClr val="16233B"/>
                          </a:solidFill>
                        </a:rPr>
                        <a:t>$2.08</a:t>
                      </a:r>
                      <a:endParaRPr lang="en-US" sz="1080" dirty="0"/>
                    </a:p>
                  </a:txBody>
                  <a:tcPr marL="54864" marR="54864" marT="36576" marB="36576"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4"/>
                  </a:ext>
                </a:extLst>
              </a:tr>
            </a:tbl>
          </a:graphicData>
        </a:graphic>
      </p:graphicFrame>
      <p:sp>
        <p:nvSpPr>
          <p:cNvPr id="8" name="Text 5"/>
          <p:cNvSpPr/>
          <p:nvPr/>
        </p:nvSpPr>
        <p:spPr>
          <a:xfrm>
            <a:off x="548640" y="4023360"/>
            <a:ext cx="5623560" cy="457200"/>
          </a:xfrm>
          <a:prstGeom prst="rect">
            <a:avLst/>
          </a:prstGeom>
          <a:noFill/>
          <a:ln/>
        </p:spPr>
        <p:txBody>
          <a:bodyPr wrap="square" lIns="0" tIns="0" rIns="0" bIns="0" rtlCol="0" anchor="ctr"/>
          <a:lstStyle/>
          <a:p>
            <a:pPr marL="0" indent="0">
              <a:lnSpc>
                <a:spcPct val="120000"/>
              </a:lnSpc>
              <a:buNone/>
            </a:pPr>
            <a:r>
              <a:rPr lang="en-US" sz="1030" i="1" dirty="0">
                <a:solidFill>
                  <a:srgbClr val="5B6A82"/>
                </a:solidFill>
                <a:latin typeface="Calibri" pitchFamily="34" charset="0"/>
                <a:ea typeface="Calibri" pitchFamily="34" charset="-122"/>
                <a:cs typeface="Calibri" pitchFamily="34" charset="-120"/>
              </a:rPr>
              <a:t>gsearch drives the most sessions and revenue, but direct/organic and bsearch traffic actually convert more efficiently per session.</a:t>
            </a:r>
            <a:endParaRPr lang="en-US" sz="1030" dirty="0"/>
          </a:p>
        </p:txBody>
      </p:sp>
      <p:sp>
        <p:nvSpPr>
          <p:cNvPr id="9" name="Text 6"/>
          <p:cNvSpPr/>
          <p:nvPr/>
        </p:nvSpPr>
        <p:spPr>
          <a:xfrm>
            <a:off x="548640" y="4572000"/>
            <a:ext cx="6400800" cy="27432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Product Margin vs. Refund Risk</a:t>
            </a:r>
            <a:endParaRPr lang="en-US" sz="135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48640" y="4882896"/>
          <a:ext cx="5623560" cy="1234440"/>
        </p:xfrm>
        <a:graphic>
          <a:graphicData uri="http://schemas.openxmlformats.org/drawingml/2006/table">
            <a:tbl>
              <a:tblPr/>
              <a:tblGrid>
                <a:gridCol w="30632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46888">
                <a:tc>
                  <a:txBody>
                    <a:bodyPr/>
                    <a:lstStyle/>
                    <a:p>
                      <a:pPr marL="0" indent="0" algn="l">
                        <a:buNone/>
                      </a:pPr>
                      <a:r>
                        <a:rPr lang="en-US" sz="1050" b="1" dirty="0">
                          <a:solidFill>
                            <a:srgbClr val="FFFFFF"/>
                          </a:solidFill>
                        </a:rPr>
                        <a:t>Product</a:t>
                      </a:r>
                      <a:endParaRPr lang="en-US" sz="105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ctr">
                        <a:buNone/>
                      </a:pPr>
                      <a:r>
                        <a:rPr lang="en-US" sz="1050" b="1" dirty="0">
                          <a:solidFill>
                            <a:srgbClr val="FFFFFF"/>
                          </a:solidFill>
                        </a:rPr>
                        <a:t>Margin %</a:t>
                      </a:r>
                      <a:endParaRPr lang="en-US" sz="105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tc>
                  <a:txBody>
                    <a:bodyPr/>
                    <a:lstStyle/>
                    <a:p>
                      <a:pPr marL="0" indent="0" algn="ctr">
                        <a:buNone/>
                      </a:pPr>
                      <a:r>
                        <a:rPr lang="en-US" sz="1050" b="1" dirty="0">
                          <a:solidFill>
                            <a:srgbClr val="FFFFFF"/>
                          </a:solidFill>
                        </a:rPr>
                        <a:t>Refund %</a:t>
                      </a:r>
                      <a:endParaRPr lang="en-US" sz="105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246888">
                <a:tc>
                  <a:txBody>
                    <a:bodyPr/>
                    <a:lstStyle/>
                    <a:p>
                      <a:pPr marL="0" indent="0" algn="l">
                        <a:buNone/>
                      </a:pPr>
                      <a:r>
                        <a:rPr lang="en-US" sz="1020" dirty="0">
                          <a:solidFill>
                            <a:srgbClr val="16233B"/>
                          </a:solidFill>
                        </a:rPr>
                        <a:t>The Original Mr. Fuzzy</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6233B"/>
                          </a:solidFill>
                        </a:rPr>
                        <a:t>61.0%</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6233B"/>
                          </a:solidFill>
                        </a:rPr>
                        <a:t>5.11%</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20" dirty="0">
                          <a:solidFill>
                            <a:srgbClr val="16233B"/>
                          </a:solidFill>
                        </a:rPr>
                        <a:t>The Forever Love Bear</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20" dirty="0">
                          <a:solidFill>
                            <a:srgbClr val="16233B"/>
                          </a:solidFill>
                        </a:rPr>
                        <a:t>62.5%</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20" dirty="0">
                          <a:solidFill>
                            <a:srgbClr val="16233B"/>
                          </a:solidFill>
                        </a:rPr>
                        <a:t>2.23%</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2"/>
                  </a:ext>
                </a:extLst>
              </a:tr>
              <a:tr h="246888">
                <a:tc>
                  <a:txBody>
                    <a:bodyPr/>
                    <a:lstStyle/>
                    <a:p>
                      <a:pPr marL="0" indent="0" algn="l">
                        <a:buNone/>
                      </a:pPr>
                      <a:r>
                        <a:rPr lang="en-US" sz="1020" dirty="0">
                          <a:solidFill>
                            <a:srgbClr val="16233B"/>
                          </a:solidFill>
                        </a:rPr>
                        <a:t>The Birthday Sugar Panda</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6233B"/>
                          </a:solidFill>
                        </a:rPr>
                        <a:t>68.5%</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marL="0" indent="0" algn="ctr">
                        <a:buNone/>
                      </a:pPr>
                      <a:r>
                        <a:rPr lang="en-US" sz="1020" dirty="0">
                          <a:solidFill>
                            <a:srgbClr val="16233B"/>
                          </a:solidFill>
                        </a:rPr>
                        <a:t>6.04%</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020" dirty="0">
                          <a:solidFill>
                            <a:srgbClr val="16233B"/>
                          </a:solidFill>
                        </a:rPr>
                        <a:t>The Hudson River Mini Bear</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20" dirty="0">
                          <a:solidFill>
                            <a:srgbClr val="16233B"/>
                          </a:solidFill>
                        </a:rPr>
                        <a:t>68.4%</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tc>
                  <a:txBody>
                    <a:bodyPr/>
                    <a:lstStyle/>
                    <a:p>
                      <a:pPr marL="0" indent="0" algn="ctr">
                        <a:buNone/>
                      </a:pPr>
                      <a:r>
                        <a:rPr lang="en-US" sz="1020" dirty="0">
                          <a:solidFill>
                            <a:srgbClr val="16233B"/>
                          </a:solidFill>
                        </a:rPr>
                        <a:t>1.28%</a:t>
                      </a:r>
                      <a:endParaRPr lang="en-US" sz="1020" dirty="0"/>
                    </a:p>
                  </a:txBody>
                  <a:tcPr marL="45720" marR="45720" marT="27432" marB="27432"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EFF3FA"/>
                    </a:solidFill>
                  </a:tcPr>
                </a:tc>
                <a:extLst>
                  <a:ext uri="{0D108BD9-81ED-4DB2-BD59-A6C34878D82A}">
                    <a16:rowId xmlns:a16="http://schemas.microsoft.com/office/drawing/2014/main" val="10004"/>
                  </a:ext>
                </a:extLst>
              </a:tr>
            </a:tbl>
          </a:graphicData>
        </a:graphic>
      </p:graphicFrame>
      <p:sp>
        <p:nvSpPr>
          <p:cNvPr id="11" name="Shape 7"/>
          <p:cNvSpPr/>
          <p:nvPr/>
        </p:nvSpPr>
        <p:spPr>
          <a:xfrm>
            <a:off x="6492240" y="1828800"/>
            <a:ext cx="5148072" cy="4572000"/>
          </a:xfrm>
          <a:prstGeom prst="roundRect">
            <a:avLst>
              <a:gd name="adj" fmla="val 1800"/>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12" name="Text 8"/>
          <p:cNvSpPr/>
          <p:nvPr/>
        </p:nvSpPr>
        <p:spPr>
          <a:xfrm>
            <a:off x="6766560" y="2011680"/>
            <a:ext cx="4572000" cy="292608"/>
          </a:xfrm>
          <a:prstGeom prst="rect">
            <a:avLst/>
          </a:prstGeom>
          <a:noFill/>
          <a:ln/>
        </p:spPr>
        <p:txBody>
          <a:bodyPr wrap="square" lIns="0" tIns="0" rIns="0" bIns="0" rtlCol="0" anchor="ctr"/>
          <a:lstStyle/>
          <a:p>
            <a:pPr marL="0" indent="0">
              <a:buNone/>
            </a:pPr>
            <a:r>
              <a:rPr lang="en-US" sz="1400" b="1" dirty="0">
                <a:solidFill>
                  <a:srgbClr val="F2B134"/>
                </a:solidFill>
                <a:latin typeface="Calibri" pitchFamily="34" charset="0"/>
                <a:ea typeface="Calibri" pitchFamily="34" charset="-122"/>
                <a:cs typeface="Calibri" pitchFamily="34" charset="-120"/>
              </a:rPr>
              <a:t>So What?</a:t>
            </a:r>
            <a:endParaRPr lang="en-US" sz="1400" dirty="0"/>
          </a:p>
        </p:txBody>
      </p:sp>
      <p:sp>
        <p:nvSpPr>
          <p:cNvPr id="13" name="Text 9"/>
          <p:cNvSpPr/>
          <p:nvPr/>
        </p:nvSpPr>
        <p:spPr>
          <a:xfrm>
            <a:off x="6766560" y="2377440"/>
            <a:ext cx="4572000" cy="256032"/>
          </a:xfrm>
          <a:prstGeom prst="rect">
            <a:avLst/>
          </a:prstGeom>
          <a:noFill/>
          <a:ln/>
        </p:spPr>
        <p:txBody>
          <a:bodyPr wrap="square" lIns="0" tIns="0" rIns="0" bIns="0"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Rebalance channel spend</a:t>
            </a:r>
            <a:endParaRPr lang="en-US" sz="1180" dirty="0"/>
          </a:p>
        </p:txBody>
      </p:sp>
      <p:sp>
        <p:nvSpPr>
          <p:cNvPr id="7" name="Text 10"/>
          <p:cNvSpPr/>
          <p:nvPr/>
        </p:nvSpPr>
        <p:spPr>
          <a:xfrm>
            <a:off x="6766560" y="2633472"/>
            <a:ext cx="4572000" cy="777240"/>
          </a:xfrm>
          <a:prstGeom prst="rect">
            <a:avLst/>
          </a:prstGeom>
          <a:noFill/>
          <a:ln/>
        </p:spPr>
        <p:txBody>
          <a:bodyPr wrap="square" lIns="0" tIns="0" rIns="0" bIns="0" rtlCol="0" anchor="ctr"/>
          <a:lstStyle/>
          <a:p>
            <a:pPr marL="0" indent="0">
              <a:lnSpc>
                <a:spcPct val="115000"/>
              </a:lnSpc>
              <a:buNone/>
            </a:pPr>
            <a:r>
              <a:rPr lang="en-US" sz="1030" dirty="0">
                <a:solidFill>
                  <a:srgbClr val="C7D3E8"/>
                </a:solidFill>
                <a:latin typeface="Calibri" pitchFamily="34" charset="0"/>
                <a:ea typeface="Calibri" pitchFamily="34" charset="-122"/>
                <a:cs typeface="Calibri" pitchFamily="34" charset="-120"/>
              </a:rPr>
              <a:t>socialbook converts at less than half the average rate and returns the lowest revenue per session — review targeting and creative before increasing spend.</a:t>
            </a:r>
            <a:endParaRPr lang="en-US" sz="1030" dirty="0"/>
          </a:p>
        </p:txBody>
      </p:sp>
      <p:sp>
        <p:nvSpPr>
          <p:cNvPr id="15" name="Text 11"/>
          <p:cNvSpPr/>
          <p:nvPr/>
        </p:nvSpPr>
        <p:spPr>
          <a:xfrm>
            <a:off x="6766560" y="3657600"/>
            <a:ext cx="4572000" cy="256032"/>
          </a:xfrm>
          <a:prstGeom prst="rect">
            <a:avLst/>
          </a:prstGeom>
          <a:noFill/>
          <a:ln/>
        </p:spPr>
        <p:txBody>
          <a:bodyPr wrap="square" lIns="0" tIns="0" rIns="0" bIns="0"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Best-margin product carries the most refund risk</a:t>
            </a:r>
            <a:endParaRPr lang="en-US" sz="1180" dirty="0"/>
          </a:p>
        </p:txBody>
      </p:sp>
      <p:sp>
        <p:nvSpPr>
          <p:cNvPr id="16" name="Text 12"/>
          <p:cNvSpPr/>
          <p:nvPr/>
        </p:nvSpPr>
        <p:spPr>
          <a:xfrm>
            <a:off x="6766560" y="3913632"/>
            <a:ext cx="4572000" cy="777240"/>
          </a:xfrm>
          <a:prstGeom prst="rect">
            <a:avLst/>
          </a:prstGeom>
          <a:noFill/>
          <a:ln/>
        </p:spPr>
        <p:txBody>
          <a:bodyPr wrap="square" lIns="0" tIns="0" rIns="0" bIns="0" rtlCol="0" anchor="ctr"/>
          <a:lstStyle/>
          <a:p>
            <a:pPr marL="0" indent="0">
              <a:lnSpc>
                <a:spcPct val="115000"/>
              </a:lnSpc>
              <a:buNone/>
            </a:pPr>
            <a:r>
              <a:rPr lang="en-US" sz="1030" dirty="0">
                <a:solidFill>
                  <a:srgbClr val="C7D3E8"/>
                </a:solidFill>
                <a:latin typeface="Calibri" pitchFamily="34" charset="0"/>
                <a:ea typeface="Calibri" pitchFamily="34" charset="-122"/>
                <a:cs typeface="Calibri" pitchFamily="34" charset="-120"/>
              </a:rPr>
              <a:t>Birthday Sugar Panda pairs the highest margin (68.5%) with the highest refund rate (6.04%) – a quality or expectation-setting review would protect that margin.</a:t>
            </a:r>
            <a:endParaRPr lang="en-US" sz="1030" dirty="0"/>
          </a:p>
        </p:txBody>
      </p:sp>
      <p:sp>
        <p:nvSpPr>
          <p:cNvPr id="17" name="Text 13"/>
          <p:cNvSpPr/>
          <p:nvPr/>
        </p:nvSpPr>
        <p:spPr>
          <a:xfrm>
            <a:off x="6766560" y="4937760"/>
            <a:ext cx="4572000" cy="256032"/>
          </a:xfrm>
          <a:prstGeom prst="rect">
            <a:avLst/>
          </a:prstGeom>
          <a:noFill/>
          <a:ln/>
        </p:spPr>
        <p:txBody>
          <a:bodyPr wrap="square" lIns="0" tIns="0" rIns="0" bIns="0"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Flagship product needs a refund review</a:t>
            </a:r>
            <a:endParaRPr lang="en-US" sz="1180" dirty="0"/>
          </a:p>
        </p:txBody>
      </p:sp>
      <p:sp>
        <p:nvSpPr>
          <p:cNvPr id="18" name="Text 14"/>
          <p:cNvSpPr/>
          <p:nvPr/>
        </p:nvSpPr>
        <p:spPr>
          <a:xfrm>
            <a:off x="6766560" y="5193792"/>
            <a:ext cx="4572000" cy="777240"/>
          </a:xfrm>
          <a:prstGeom prst="rect">
            <a:avLst/>
          </a:prstGeom>
          <a:noFill/>
          <a:ln/>
        </p:spPr>
        <p:txBody>
          <a:bodyPr wrap="square" lIns="0" tIns="0" rIns="0" bIns="0" rtlCol="0" anchor="ctr"/>
          <a:lstStyle/>
          <a:p>
            <a:pPr marL="0" indent="0">
              <a:lnSpc>
                <a:spcPct val="115000"/>
              </a:lnSpc>
              <a:buNone/>
            </a:pPr>
            <a:r>
              <a:rPr lang="en-US" sz="1030" dirty="0">
                <a:solidFill>
                  <a:srgbClr val="C7D3E8"/>
                </a:solidFill>
                <a:latin typeface="Calibri" pitchFamily="34" charset="0"/>
                <a:ea typeface="Calibri" pitchFamily="34" charset="-122"/>
                <a:cs typeface="Calibri" pitchFamily="34" charset="-120"/>
              </a:rPr>
              <a:t>Mr. Fuzzy is 62% of revenue and 72% of refund dollars – even a small improvement here has an outsized profit impact.</a:t>
            </a:r>
            <a:endParaRPr lang="en-US" sz="1030" dirty="0"/>
          </a:p>
        </p:txBody>
      </p:sp>
      <p:sp>
        <p:nvSpPr>
          <p:cNvPr id="19" name="Text 15"/>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20" name="Text 16"/>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281428" cy="292608"/>
          </a:xfrm>
          <a:prstGeom prst="roundRect">
            <a:avLst>
              <a:gd name="adj" fmla="val 25000"/>
            </a:avLst>
          </a:prstGeom>
          <a:solidFill>
            <a:srgbClr val="F2B134"/>
          </a:solidFill>
          <a:ln/>
        </p:spPr>
      </p:sp>
      <p:sp>
        <p:nvSpPr>
          <p:cNvPr id="3" name="Text 1"/>
          <p:cNvSpPr/>
          <p:nvPr/>
        </p:nvSpPr>
        <p:spPr>
          <a:xfrm>
            <a:off x="502920" y="384048"/>
            <a:ext cx="2281428"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PREDICTIVE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Predicting Session Conversion</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Approach, feature engineering &amp; model selection</a:t>
            </a:r>
            <a:endParaRPr lang="en-US" sz="1300" dirty="0"/>
          </a:p>
        </p:txBody>
      </p:sp>
      <p:sp>
        <p:nvSpPr>
          <p:cNvPr id="6" name="Shape 4"/>
          <p:cNvSpPr/>
          <p:nvPr/>
        </p:nvSpPr>
        <p:spPr>
          <a:xfrm>
            <a:off x="548640" y="1874520"/>
            <a:ext cx="5349240" cy="4434840"/>
          </a:xfrm>
          <a:prstGeom prst="roundRect">
            <a:avLst>
              <a:gd name="adj" fmla="val 185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sp>
        <p:nvSpPr>
          <p:cNvPr id="7" name="Text 5"/>
          <p:cNvSpPr/>
          <p:nvPr/>
        </p:nvSpPr>
        <p:spPr>
          <a:xfrm>
            <a:off x="822960" y="2084832"/>
            <a:ext cx="4846320" cy="292608"/>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Modelling Approach</a:t>
            </a:r>
            <a:endParaRPr lang="en-US" sz="1400" dirty="0"/>
          </a:p>
        </p:txBody>
      </p:sp>
      <p:sp>
        <p:nvSpPr>
          <p:cNvPr id="8" name="Text 6"/>
          <p:cNvSpPr/>
          <p:nvPr/>
        </p:nvSpPr>
        <p:spPr>
          <a:xfrm>
            <a:off x="822960" y="2423160"/>
            <a:ext cx="4846320" cy="256032"/>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Objective</a:t>
            </a:r>
            <a:endParaRPr lang="en-US" sz="1150" dirty="0"/>
          </a:p>
        </p:txBody>
      </p:sp>
      <p:sp>
        <p:nvSpPr>
          <p:cNvPr id="9" name="Text 7"/>
          <p:cNvSpPr/>
          <p:nvPr/>
        </p:nvSpPr>
        <p:spPr>
          <a:xfrm>
            <a:off x="822960" y="2670048"/>
            <a:ext cx="4846320" cy="502920"/>
          </a:xfrm>
          <a:prstGeom prst="rect">
            <a:avLst/>
          </a:prstGeom>
          <a:noFill/>
          <a:ln/>
        </p:spPr>
        <p:txBody>
          <a:bodyPr wrap="square" lIns="0" tIns="0" rIns="0" bIns="0" rtlCol="0" anchor="ctr"/>
          <a:lstStyle/>
          <a:p>
            <a:pPr marL="0" indent="0">
              <a:lnSpc>
                <a:spcPct val="115000"/>
              </a:lnSpc>
              <a:buNone/>
            </a:pPr>
            <a:r>
              <a:rPr lang="en-US" sz="1060" dirty="0">
                <a:solidFill>
                  <a:srgbClr val="16233B"/>
                </a:solidFill>
                <a:latin typeface="Calibri" pitchFamily="34" charset="0"/>
                <a:ea typeface="Calibri" pitchFamily="34" charset="-122"/>
                <a:cs typeface="Calibri" pitchFamily="34" charset="-120"/>
              </a:rPr>
              <a:t>Predict whether a website session converts into an order (binary classification).</a:t>
            </a:r>
            <a:endParaRPr lang="en-US" sz="1060" dirty="0"/>
          </a:p>
        </p:txBody>
      </p:sp>
      <p:sp>
        <p:nvSpPr>
          <p:cNvPr id="10" name="Text 8"/>
          <p:cNvSpPr/>
          <p:nvPr/>
        </p:nvSpPr>
        <p:spPr>
          <a:xfrm>
            <a:off x="822960" y="3172968"/>
            <a:ext cx="4846320" cy="256032"/>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Target</a:t>
            </a:r>
            <a:endParaRPr lang="en-US" sz="1150" dirty="0"/>
          </a:p>
        </p:txBody>
      </p:sp>
      <p:sp>
        <p:nvSpPr>
          <p:cNvPr id="11" name="Text 9"/>
          <p:cNvSpPr/>
          <p:nvPr/>
        </p:nvSpPr>
        <p:spPr>
          <a:xfrm>
            <a:off x="822960" y="3419856"/>
            <a:ext cx="4846320" cy="502920"/>
          </a:xfrm>
          <a:prstGeom prst="rect">
            <a:avLst/>
          </a:prstGeom>
          <a:noFill/>
          <a:ln/>
        </p:spPr>
        <p:txBody>
          <a:bodyPr wrap="square" lIns="0" tIns="0" rIns="0" bIns="0" rtlCol="0" anchor="ctr"/>
          <a:lstStyle/>
          <a:p>
            <a:pPr marL="0" indent="0">
              <a:lnSpc>
                <a:spcPct val="115000"/>
              </a:lnSpc>
              <a:buNone/>
            </a:pPr>
            <a:r>
              <a:rPr lang="en-US" sz="1060" dirty="0">
                <a:solidFill>
                  <a:srgbClr val="16233B"/>
                </a:solidFill>
                <a:latin typeface="Calibri" pitchFamily="34" charset="0"/>
                <a:ea typeface="Calibri" pitchFamily="34" charset="-122"/>
                <a:cs typeface="Calibri" pitchFamily="34" charset="-120"/>
              </a:rPr>
              <a:t>converted_session (1 = converted, 0 = not converted)</a:t>
            </a:r>
            <a:endParaRPr lang="en-US" sz="1060" dirty="0"/>
          </a:p>
        </p:txBody>
      </p:sp>
      <p:sp>
        <p:nvSpPr>
          <p:cNvPr id="12" name="Text 10"/>
          <p:cNvSpPr/>
          <p:nvPr/>
        </p:nvSpPr>
        <p:spPr>
          <a:xfrm>
            <a:off x="822960" y="3922776"/>
            <a:ext cx="4846320" cy="256032"/>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Algorithm</a:t>
            </a:r>
            <a:endParaRPr lang="en-US" sz="1150" dirty="0"/>
          </a:p>
        </p:txBody>
      </p:sp>
      <p:sp>
        <p:nvSpPr>
          <p:cNvPr id="13" name="Text 11"/>
          <p:cNvSpPr/>
          <p:nvPr/>
        </p:nvSpPr>
        <p:spPr>
          <a:xfrm>
            <a:off x="822960" y="4169664"/>
            <a:ext cx="4846320" cy="502920"/>
          </a:xfrm>
          <a:prstGeom prst="rect">
            <a:avLst/>
          </a:prstGeom>
          <a:noFill/>
          <a:ln/>
        </p:spPr>
        <p:txBody>
          <a:bodyPr wrap="square" lIns="0" tIns="0" rIns="0" bIns="0" rtlCol="0" anchor="ctr"/>
          <a:lstStyle/>
          <a:p>
            <a:pPr marL="0" indent="0">
              <a:lnSpc>
                <a:spcPct val="115000"/>
              </a:lnSpc>
              <a:buNone/>
            </a:pPr>
            <a:r>
              <a:rPr lang="en-US" sz="1060" dirty="0">
                <a:solidFill>
                  <a:srgbClr val="16233B"/>
                </a:solidFill>
                <a:latin typeface="Calibri" pitchFamily="34" charset="0"/>
                <a:ea typeface="Calibri" pitchFamily="34" charset="-122"/>
                <a:cs typeface="Calibri" pitchFamily="34" charset="-120"/>
              </a:rPr>
              <a:t>Logistic Regression – chosen for a binary target and for interpretable, business-explainable coefficients.</a:t>
            </a:r>
            <a:endParaRPr lang="en-US" sz="1060" dirty="0"/>
          </a:p>
        </p:txBody>
      </p:sp>
      <p:sp>
        <p:nvSpPr>
          <p:cNvPr id="14" name="Text 12"/>
          <p:cNvSpPr/>
          <p:nvPr/>
        </p:nvSpPr>
        <p:spPr>
          <a:xfrm>
            <a:off x="822960" y="4672584"/>
            <a:ext cx="4846320" cy="256032"/>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Leakage control</a:t>
            </a:r>
            <a:endParaRPr lang="en-US" sz="1150" dirty="0"/>
          </a:p>
        </p:txBody>
      </p:sp>
      <p:sp>
        <p:nvSpPr>
          <p:cNvPr id="15" name="Text 13"/>
          <p:cNvSpPr/>
          <p:nvPr/>
        </p:nvSpPr>
        <p:spPr>
          <a:xfrm>
            <a:off x="822960" y="4919472"/>
            <a:ext cx="4846320" cy="502920"/>
          </a:xfrm>
          <a:prstGeom prst="rect">
            <a:avLst/>
          </a:prstGeom>
          <a:noFill/>
          <a:ln/>
        </p:spPr>
        <p:txBody>
          <a:bodyPr wrap="square" lIns="0" tIns="0" rIns="0" bIns="0" rtlCol="0" anchor="ctr"/>
          <a:lstStyle/>
          <a:p>
            <a:pPr marL="0" indent="0">
              <a:lnSpc>
                <a:spcPct val="115000"/>
              </a:lnSpc>
              <a:buNone/>
            </a:pPr>
            <a:r>
              <a:rPr lang="en-US" sz="1060" dirty="0">
                <a:solidFill>
                  <a:srgbClr val="16233B"/>
                </a:solidFill>
                <a:latin typeface="Calibri" pitchFamily="34" charset="0"/>
                <a:ea typeface="Calibri" pitchFamily="34" charset="-122"/>
                <a:cs typeface="Calibri" pitchFamily="34" charset="-120"/>
              </a:rPr>
              <a:t>order_count and session_revenue intentionally excluded – they reveal the outcome directly.</a:t>
            </a:r>
            <a:endParaRPr lang="en-US" sz="1060" dirty="0"/>
          </a:p>
        </p:txBody>
      </p:sp>
      <p:sp>
        <p:nvSpPr>
          <p:cNvPr id="16" name="Text 14"/>
          <p:cNvSpPr/>
          <p:nvPr/>
        </p:nvSpPr>
        <p:spPr>
          <a:xfrm>
            <a:off x="822960" y="5422392"/>
            <a:ext cx="4846320" cy="256032"/>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Features used</a:t>
            </a:r>
            <a:endParaRPr lang="en-US" sz="1150" dirty="0"/>
          </a:p>
        </p:txBody>
      </p:sp>
      <p:sp>
        <p:nvSpPr>
          <p:cNvPr id="17" name="Text 15"/>
          <p:cNvSpPr/>
          <p:nvPr/>
        </p:nvSpPr>
        <p:spPr>
          <a:xfrm>
            <a:off x="822960" y="5669280"/>
            <a:ext cx="4846320" cy="502920"/>
          </a:xfrm>
          <a:prstGeom prst="rect">
            <a:avLst/>
          </a:prstGeom>
          <a:noFill/>
          <a:ln/>
        </p:spPr>
        <p:txBody>
          <a:bodyPr wrap="square" lIns="0" tIns="0" rIns="0" bIns="0" rtlCol="0" anchor="ctr"/>
          <a:lstStyle/>
          <a:p>
            <a:pPr marL="0" indent="0">
              <a:lnSpc>
                <a:spcPct val="115000"/>
              </a:lnSpc>
              <a:buNone/>
            </a:pPr>
            <a:r>
              <a:rPr lang="en-US" sz="1060" dirty="0">
                <a:solidFill>
                  <a:srgbClr val="16233B"/>
                </a:solidFill>
                <a:latin typeface="Calibri" pitchFamily="34" charset="0"/>
                <a:ea typeface="Calibri" pitchFamily="34" charset="-122"/>
                <a:cs typeface="Calibri" pitchFamily="34" charset="-120"/>
              </a:rPr>
              <a:t>Device type, UTM source/campaign/content, referrer, repeat-session flag, session hour, day of week, month &amp; year.</a:t>
            </a:r>
            <a:endParaRPr lang="en-US" sz="1060" dirty="0"/>
          </a:p>
        </p:txBody>
      </p:sp>
      <p:sp>
        <p:nvSpPr>
          <p:cNvPr id="18" name="Shape 16"/>
          <p:cNvSpPr/>
          <p:nvPr/>
        </p:nvSpPr>
        <p:spPr>
          <a:xfrm>
            <a:off x="6080760" y="1874520"/>
            <a:ext cx="5559552" cy="4434840"/>
          </a:xfrm>
          <a:prstGeom prst="roundRect">
            <a:avLst>
              <a:gd name="adj" fmla="val 1856"/>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19" name="Text 17"/>
          <p:cNvSpPr/>
          <p:nvPr/>
        </p:nvSpPr>
        <p:spPr>
          <a:xfrm>
            <a:off x="6355080" y="2084832"/>
            <a:ext cx="5029200" cy="292608"/>
          </a:xfrm>
          <a:prstGeom prst="rect">
            <a:avLst/>
          </a:prstGeom>
          <a:noFill/>
          <a:ln/>
        </p:spPr>
        <p:txBody>
          <a:bodyPr wrap="square" lIns="0" tIns="0" rIns="0" bIns="0" rtlCol="0" anchor="ctr"/>
          <a:lstStyle/>
          <a:p>
            <a:pPr marL="0" indent="0">
              <a:buNone/>
            </a:pPr>
            <a:r>
              <a:rPr lang="en-US" sz="1400" b="1" dirty="0">
                <a:solidFill>
                  <a:srgbClr val="F2B134"/>
                </a:solidFill>
                <a:latin typeface="Calibri" pitchFamily="34" charset="0"/>
                <a:ea typeface="Calibri" pitchFamily="34" charset="-122"/>
                <a:cs typeface="Calibri" pitchFamily="34" charset="-120"/>
              </a:rPr>
              <a:t>Why Logistic Regression Fits Here</a:t>
            </a:r>
            <a:endParaRPr lang="en-US" sz="1400" dirty="0"/>
          </a:p>
        </p:txBody>
      </p:sp>
      <p:sp>
        <p:nvSpPr>
          <p:cNvPr id="20" name="Text 18"/>
          <p:cNvSpPr/>
          <p:nvPr/>
        </p:nvSpPr>
        <p:spPr>
          <a:xfrm>
            <a:off x="6355080" y="2487168"/>
            <a:ext cx="5074920" cy="2286000"/>
          </a:xfrm>
          <a:prstGeom prst="rect">
            <a:avLst/>
          </a:prstGeom>
          <a:noFill/>
          <a:ln/>
        </p:spPr>
        <p:txBody>
          <a:bodyPr wrap="square" lIns="0" tIns="0" rIns="0" bIns="0" rtlCol="0" anchor="ctr"/>
          <a:lstStyle/>
          <a:p>
            <a:pPr marL="342900" indent="-342900">
              <a:lnSpc>
                <a:spcPct val="120000"/>
              </a:lnSpc>
              <a:spcAft>
                <a:spcPts val="1400"/>
              </a:spcAft>
              <a:buSzPct val="100000"/>
              <a:buChar char="•"/>
            </a:pPr>
            <a:r>
              <a:rPr lang="en-US" sz="1150" dirty="0">
                <a:solidFill>
                  <a:srgbClr val="E6ECF7"/>
                </a:solidFill>
                <a:latin typeface="Calibri" pitchFamily="34" charset="0"/>
                <a:ea typeface="Calibri" pitchFamily="34" charset="-122"/>
                <a:cs typeface="Calibri" pitchFamily="34" charset="-120"/>
              </a:rPr>
              <a:t>Target is binary (converted vs not converted) – a natural fit for logistic, not linear, regression</a:t>
            </a:r>
            <a:endParaRPr lang="en-US" sz="1150" dirty="0"/>
          </a:p>
          <a:p>
            <a:pPr marL="342900" indent="-342900">
              <a:lnSpc>
                <a:spcPct val="120000"/>
              </a:lnSpc>
              <a:spcAft>
                <a:spcPts val="1400"/>
              </a:spcAft>
              <a:buSzPct val="100000"/>
              <a:buChar char="•"/>
            </a:pPr>
            <a:r>
              <a:rPr lang="en-US" sz="1150" dirty="0">
                <a:solidFill>
                  <a:srgbClr val="E6ECF7"/>
                </a:solidFill>
                <a:latin typeface="Calibri" pitchFamily="34" charset="0"/>
                <a:ea typeface="Calibri" pitchFamily="34" charset="-122"/>
                <a:cs typeface="Calibri" pitchFamily="34" charset="-120"/>
              </a:rPr>
              <a:t>Coefficients translate directly into “which session traits raise or lower conversion odds” – useful for marketing conversations</a:t>
            </a:r>
            <a:endParaRPr lang="en-US" sz="1150" dirty="0"/>
          </a:p>
          <a:p>
            <a:pPr marL="342900" indent="-342900">
              <a:lnSpc>
                <a:spcPct val="120000"/>
              </a:lnSpc>
              <a:spcAft>
                <a:spcPts val="1400"/>
              </a:spcAft>
              <a:buSzPct val="100000"/>
              <a:buChar char="•"/>
            </a:pPr>
            <a:r>
              <a:rPr lang="en-US" sz="1150" dirty="0">
                <a:solidFill>
                  <a:srgbClr val="E6ECF7"/>
                </a:solidFill>
                <a:latin typeface="Calibri" pitchFamily="34" charset="0"/>
                <a:ea typeface="Calibri" pitchFamily="34" charset="-122"/>
                <a:cs typeface="Calibri" pitchFamily="34" charset="-120"/>
              </a:rPr>
              <a:t>Fast to train and re-train as new session data lands, keeping the model easy to refresh</a:t>
            </a:r>
            <a:endParaRPr lang="en-US" sz="1150" dirty="0"/>
          </a:p>
          <a:p>
            <a:pPr marL="342900" indent="-342900">
              <a:lnSpc>
                <a:spcPct val="120000"/>
              </a:lnSpc>
              <a:spcAft>
                <a:spcPts val="1400"/>
              </a:spcAft>
              <a:buSzPct val="100000"/>
              <a:buChar char="•"/>
            </a:pPr>
            <a:r>
              <a:rPr lang="en-US" sz="1150" dirty="0">
                <a:solidFill>
                  <a:srgbClr val="E6ECF7"/>
                </a:solidFill>
                <a:latin typeface="Calibri" pitchFamily="34" charset="0"/>
                <a:ea typeface="Calibri" pitchFamily="34" charset="-122"/>
                <a:cs typeface="Calibri" pitchFamily="34" charset="-120"/>
              </a:rPr>
              <a:t>Serves as an interpretable baseline before considering tree-based models for further lift</a:t>
            </a:r>
            <a:endParaRPr lang="en-US" sz="1150" dirty="0"/>
          </a:p>
        </p:txBody>
      </p:sp>
      <p:sp>
        <p:nvSpPr>
          <p:cNvPr id="21" name="Shape 19"/>
          <p:cNvSpPr/>
          <p:nvPr/>
        </p:nvSpPr>
        <p:spPr>
          <a:xfrm>
            <a:off x="6355080" y="4892040"/>
            <a:ext cx="5029200" cy="1234440"/>
          </a:xfrm>
          <a:prstGeom prst="roundRect">
            <a:avLst>
              <a:gd name="adj" fmla="val 6667"/>
            </a:avLst>
          </a:prstGeom>
          <a:solidFill>
            <a:srgbClr val="132A4C"/>
          </a:solidFill>
          <a:ln w="12700">
            <a:solidFill>
              <a:srgbClr val="24406B"/>
            </a:solidFill>
            <a:prstDash val="solid"/>
          </a:ln>
          <a:effectLst>
            <a:outerShdw blurRad="101600" dist="25400" dir="5400000" algn="bl" rotWithShape="0">
              <a:srgbClr val="9AA7BD">
                <a:alpha val="35000"/>
              </a:srgbClr>
            </a:outerShdw>
          </a:effectLst>
        </p:spPr>
      </p:sp>
      <p:sp>
        <p:nvSpPr>
          <p:cNvPr id="22" name="Text 20"/>
          <p:cNvSpPr/>
          <p:nvPr/>
        </p:nvSpPr>
        <p:spPr>
          <a:xfrm>
            <a:off x="6537960" y="4983480"/>
            <a:ext cx="3657600" cy="256032"/>
          </a:xfrm>
          <a:prstGeom prst="rect">
            <a:avLst/>
          </a:prstGeom>
          <a:noFill/>
          <a:ln/>
        </p:spPr>
        <p:txBody>
          <a:bodyPr wrap="square" lIns="0" tIns="0" rIns="0" bIns="0" rtlCol="0" anchor="ctr"/>
          <a:lstStyle/>
          <a:p>
            <a:pPr marL="0" indent="0">
              <a:buNone/>
            </a:pPr>
            <a:r>
              <a:rPr lang="en-US" sz="1100" b="1" dirty="0">
                <a:solidFill>
                  <a:srgbClr val="F2B134"/>
                </a:solidFill>
                <a:latin typeface="Calibri" pitchFamily="34" charset="0"/>
                <a:ea typeface="Calibri" pitchFamily="34" charset="-122"/>
                <a:cs typeface="Calibri" pitchFamily="34" charset="-120"/>
              </a:rPr>
              <a:t>Pipeline</a:t>
            </a:r>
            <a:endParaRPr lang="en-US" sz="1100" dirty="0"/>
          </a:p>
        </p:txBody>
      </p:sp>
      <p:sp>
        <p:nvSpPr>
          <p:cNvPr id="23" name="Text 21"/>
          <p:cNvSpPr/>
          <p:nvPr/>
        </p:nvSpPr>
        <p:spPr>
          <a:xfrm>
            <a:off x="6537960" y="5239512"/>
            <a:ext cx="4663440" cy="822960"/>
          </a:xfrm>
          <a:prstGeom prst="rect">
            <a:avLst/>
          </a:prstGeom>
          <a:noFill/>
          <a:ln/>
        </p:spPr>
        <p:txBody>
          <a:bodyPr wrap="square" lIns="0" tIns="0" rIns="0" bIns="0" rtlCol="0" anchor="ctr"/>
          <a:lstStyle/>
          <a:p>
            <a:pPr marL="0" indent="0">
              <a:lnSpc>
                <a:spcPct val="120000"/>
              </a:lnSpc>
              <a:buNone/>
            </a:pPr>
            <a:r>
              <a:rPr lang="en-US" sz="1000" dirty="0">
                <a:solidFill>
                  <a:srgbClr val="C7D3E8"/>
                </a:solidFill>
                <a:latin typeface="Calibri" pitchFamily="34" charset="0"/>
                <a:ea typeface="Calibri" pitchFamily="34" charset="-122"/>
                <a:cs typeface="Calibri" pitchFamily="34" charset="-120"/>
              </a:rPr>
              <a:t>SQL Server → Python extraction → validation → train/test split → preprocessing (encode + scale) → Logistic Regression → evaluation → model saved for reuse</a:t>
            </a:r>
            <a:endParaRPr lang="en-US" sz="1000" dirty="0"/>
          </a:p>
        </p:txBody>
      </p:sp>
      <p:sp>
        <p:nvSpPr>
          <p:cNvPr id="24" name="Text 22"/>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25" name="Text 23"/>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281428" cy="292608"/>
          </a:xfrm>
          <a:prstGeom prst="roundRect">
            <a:avLst>
              <a:gd name="adj" fmla="val 25000"/>
            </a:avLst>
          </a:prstGeom>
          <a:solidFill>
            <a:srgbClr val="F2B134"/>
          </a:solidFill>
          <a:ln/>
        </p:spPr>
      </p:sp>
      <p:sp>
        <p:nvSpPr>
          <p:cNvPr id="3" name="Text 1"/>
          <p:cNvSpPr/>
          <p:nvPr/>
        </p:nvSpPr>
        <p:spPr>
          <a:xfrm>
            <a:off x="502920" y="384048"/>
            <a:ext cx="2281428"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PREDICTIVE ANALYSIS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Model Results &amp; Key Drivers</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Held-out test set of 94,575 sessions</a:t>
            </a:r>
            <a:endParaRPr lang="en-US" sz="1300" dirty="0"/>
          </a:p>
        </p:txBody>
      </p:sp>
      <p:sp>
        <p:nvSpPr>
          <p:cNvPr id="6" name="Shape 4"/>
          <p:cNvSpPr/>
          <p:nvPr/>
        </p:nvSpPr>
        <p:spPr>
          <a:xfrm>
            <a:off x="548640" y="1874520"/>
            <a:ext cx="3246120" cy="1965960"/>
          </a:xfrm>
          <a:prstGeom prst="roundRect">
            <a:avLst>
              <a:gd name="adj" fmla="val 418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nb_img_136.png"/>
          <p:cNvPicPr>
            <a:picLocks noChangeAspect="1"/>
          </p:cNvPicPr>
          <p:nvPr/>
        </p:nvPicPr>
        <p:blipFill>
          <a:blip r:embed="rId3"/>
          <a:stretch>
            <a:fillRect/>
          </a:stretch>
        </p:blipFill>
        <p:spPr>
          <a:xfrm>
            <a:off x="685800" y="1993392"/>
            <a:ext cx="2971800" cy="1719072"/>
          </a:xfrm>
          <a:prstGeom prst="rect">
            <a:avLst/>
          </a:prstGeom>
        </p:spPr>
      </p:pic>
      <p:sp>
        <p:nvSpPr>
          <p:cNvPr id="8" name="Shape 5"/>
          <p:cNvSpPr/>
          <p:nvPr/>
        </p:nvSpPr>
        <p:spPr>
          <a:xfrm>
            <a:off x="3931920" y="1874520"/>
            <a:ext cx="3246120" cy="1965960"/>
          </a:xfrm>
          <a:prstGeom prst="roundRect">
            <a:avLst>
              <a:gd name="adj" fmla="val 418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9" name="Image 1" descr="/home/claude/work/nb_img_139.png"/>
          <p:cNvPicPr>
            <a:picLocks noChangeAspect="1"/>
          </p:cNvPicPr>
          <p:nvPr/>
        </p:nvPicPr>
        <p:blipFill>
          <a:blip r:embed="rId4"/>
          <a:stretch>
            <a:fillRect/>
          </a:stretch>
        </p:blipFill>
        <p:spPr>
          <a:xfrm>
            <a:off x="4069080" y="1993392"/>
            <a:ext cx="2971800" cy="1719072"/>
          </a:xfrm>
          <a:prstGeom prst="rect">
            <a:avLst/>
          </a:prstGeom>
        </p:spPr>
      </p:pic>
      <p:sp>
        <p:nvSpPr>
          <p:cNvPr id="10" name="Shape 6"/>
          <p:cNvSpPr/>
          <p:nvPr/>
        </p:nvSpPr>
        <p:spPr>
          <a:xfrm>
            <a:off x="7315200" y="1874520"/>
            <a:ext cx="1371600" cy="1965960"/>
          </a:xfrm>
          <a:prstGeom prst="roundRect">
            <a:avLst>
              <a:gd name="adj" fmla="val 6000"/>
            </a:avLst>
          </a:prstGeom>
          <a:solidFill>
            <a:srgbClr val="EFF3FA"/>
          </a:solidFill>
          <a:ln w="12700">
            <a:solidFill>
              <a:srgbClr val="E1E6EF"/>
            </a:solidFill>
            <a:prstDash val="solid"/>
          </a:ln>
        </p:spPr>
      </p:sp>
      <p:sp>
        <p:nvSpPr>
          <p:cNvPr id="11" name="Text 7"/>
          <p:cNvSpPr/>
          <p:nvPr/>
        </p:nvSpPr>
        <p:spPr>
          <a:xfrm>
            <a:off x="7315200" y="2121408"/>
            <a:ext cx="1371600" cy="548640"/>
          </a:xfrm>
          <a:prstGeom prst="rect">
            <a:avLst/>
          </a:prstGeom>
          <a:noFill/>
          <a:ln/>
        </p:spPr>
        <p:txBody>
          <a:bodyPr wrap="square" lIns="0" tIns="0" rIns="0" bIns="0" rtlCol="0" anchor="ctr"/>
          <a:lstStyle/>
          <a:p>
            <a:pPr marL="0" indent="0" algn="ctr">
              <a:buNone/>
            </a:pPr>
            <a:r>
              <a:rPr lang="en-US" sz="2100" b="1" dirty="0">
                <a:solidFill>
                  <a:srgbClr val="0B1F3A"/>
                </a:solidFill>
                <a:latin typeface="Cambria" pitchFamily="34" charset="0"/>
                <a:ea typeface="Cambria" pitchFamily="34" charset="-122"/>
                <a:cs typeface="Cambria" pitchFamily="34" charset="-120"/>
              </a:rPr>
              <a:t>93.17%</a:t>
            </a:r>
            <a:endParaRPr lang="en-US" sz="2100" dirty="0"/>
          </a:p>
        </p:txBody>
      </p:sp>
      <p:sp>
        <p:nvSpPr>
          <p:cNvPr id="12" name="Text 8"/>
          <p:cNvSpPr/>
          <p:nvPr/>
        </p:nvSpPr>
        <p:spPr>
          <a:xfrm>
            <a:off x="7315200" y="2697480"/>
            <a:ext cx="1371600" cy="640080"/>
          </a:xfrm>
          <a:prstGeom prst="rect">
            <a:avLst/>
          </a:prstGeom>
          <a:noFill/>
          <a:ln/>
        </p:spPr>
        <p:txBody>
          <a:bodyPr wrap="square" lIns="0" tIns="0" rIns="0" bIns="0" rtlCol="0" anchor="ctr"/>
          <a:lstStyle/>
          <a:p>
            <a:pPr marL="0" indent="0" algn="ctr">
              <a:lnSpc>
                <a:spcPct val="110000"/>
              </a:lnSpc>
              <a:buNone/>
            </a:pPr>
            <a:r>
              <a:rPr lang="en-US" sz="960" dirty="0">
                <a:solidFill>
                  <a:srgbClr val="5B6A82"/>
                </a:solidFill>
                <a:latin typeface="Calibri" pitchFamily="34" charset="0"/>
                <a:ea typeface="Calibri" pitchFamily="34" charset="-122"/>
                <a:cs typeface="Calibri" pitchFamily="34" charset="-120"/>
              </a:rPr>
              <a:t>Accuracy</a:t>
            </a:r>
            <a:endParaRPr lang="en-US" sz="960" dirty="0"/>
          </a:p>
        </p:txBody>
      </p:sp>
      <p:sp>
        <p:nvSpPr>
          <p:cNvPr id="13" name="Shape 9"/>
          <p:cNvSpPr/>
          <p:nvPr/>
        </p:nvSpPr>
        <p:spPr>
          <a:xfrm>
            <a:off x="8796528" y="1874520"/>
            <a:ext cx="1371600" cy="1965960"/>
          </a:xfrm>
          <a:prstGeom prst="roundRect">
            <a:avLst>
              <a:gd name="adj" fmla="val 6000"/>
            </a:avLst>
          </a:prstGeom>
          <a:solidFill>
            <a:srgbClr val="EFF3FA"/>
          </a:solidFill>
          <a:ln w="12700">
            <a:solidFill>
              <a:srgbClr val="E1E6EF"/>
            </a:solidFill>
            <a:prstDash val="solid"/>
          </a:ln>
        </p:spPr>
      </p:sp>
      <p:sp>
        <p:nvSpPr>
          <p:cNvPr id="14" name="Text 10"/>
          <p:cNvSpPr/>
          <p:nvPr/>
        </p:nvSpPr>
        <p:spPr>
          <a:xfrm>
            <a:off x="8796528" y="2121408"/>
            <a:ext cx="1371600" cy="548640"/>
          </a:xfrm>
          <a:prstGeom prst="rect">
            <a:avLst/>
          </a:prstGeom>
          <a:noFill/>
          <a:ln/>
        </p:spPr>
        <p:txBody>
          <a:bodyPr wrap="square" lIns="0" tIns="0" rIns="0" bIns="0" rtlCol="0" anchor="ctr"/>
          <a:lstStyle/>
          <a:p>
            <a:pPr marL="0" indent="0" algn="ctr">
              <a:buNone/>
            </a:pPr>
            <a:r>
              <a:rPr lang="en-US" sz="2100" b="1" dirty="0">
                <a:solidFill>
                  <a:srgbClr val="0B1F3A"/>
                </a:solidFill>
                <a:latin typeface="Cambria" pitchFamily="34" charset="0"/>
                <a:ea typeface="Cambria" pitchFamily="34" charset="-122"/>
                <a:cs typeface="Cambria" pitchFamily="34" charset="-120"/>
              </a:rPr>
              <a:t>0.632</a:t>
            </a:r>
            <a:endParaRPr lang="en-US" sz="2100" dirty="0"/>
          </a:p>
        </p:txBody>
      </p:sp>
      <p:sp>
        <p:nvSpPr>
          <p:cNvPr id="15" name="Text 11"/>
          <p:cNvSpPr/>
          <p:nvPr/>
        </p:nvSpPr>
        <p:spPr>
          <a:xfrm>
            <a:off x="8796528" y="2697480"/>
            <a:ext cx="1371600" cy="640080"/>
          </a:xfrm>
          <a:prstGeom prst="rect">
            <a:avLst/>
          </a:prstGeom>
          <a:noFill/>
          <a:ln/>
        </p:spPr>
        <p:txBody>
          <a:bodyPr wrap="square" lIns="0" tIns="0" rIns="0" bIns="0" rtlCol="0" anchor="ctr"/>
          <a:lstStyle/>
          <a:p>
            <a:pPr marL="0" indent="0" algn="ctr">
              <a:lnSpc>
                <a:spcPct val="110000"/>
              </a:lnSpc>
              <a:buNone/>
            </a:pPr>
            <a:r>
              <a:rPr lang="en-US" sz="960" dirty="0">
                <a:solidFill>
                  <a:srgbClr val="5B6A82"/>
                </a:solidFill>
                <a:latin typeface="Calibri" pitchFamily="34" charset="0"/>
                <a:ea typeface="Calibri" pitchFamily="34" charset="-122"/>
                <a:cs typeface="Calibri" pitchFamily="34" charset="-120"/>
              </a:rPr>
              <a:t>ROC-AUC</a:t>
            </a:r>
            <a:endParaRPr lang="en-US" sz="960" dirty="0"/>
          </a:p>
        </p:txBody>
      </p:sp>
      <p:sp>
        <p:nvSpPr>
          <p:cNvPr id="16" name="Shape 12"/>
          <p:cNvSpPr/>
          <p:nvPr/>
        </p:nvSpPr>
        <p:spPr>
          <a:xfrm>
            <a:off x="10277856" y="1874520"/>
            <a:ext cx="1371600" cy="1965960"/>
          </a:xfrm>
          <a:prstGeom prst="roundRect">
            <a:avLst>
              <a:gd name="adj" fmla="val 6000"/>
            </a:avLst>
          </a:prstGeom>
          <a:solidFill>
            <a:srgbClr val="EFF3FA"/>
          </a:solidFill>
          <a:ln w="12700">
            <a:solidFill>
              <a:srgbClr val="E1E6EF"/>
            </a:solidFill>
            <a:prstDash val="solid"/>
          </a:ln>
        </p:spPr>
      </p:sp>
      <p:sp>
        <p:nvSpPr>
          <p:cNvPr id="17" name="Text 13"/>
          <p:cNvSpPr/>
          <p:nvPr/>
        </p:nvSpPr>
        <p:spPr>
          <a:xfrm>
            <a:off x="10277856" y="2121408"/>
            <a:ext cx="1371600" cy="548640"/>
          </a:xfrm>
          <a:prstGeom prst="rect">
            <a:avLst/>
          </a:prstGeom>
          <a:noFill/>
          <a:ln/>
        </p:spPr>
        <p:txBody>
          <a:bodyPr wrap="square" lIns="0" tIns="0" rIns="0" bIns="0" rtlCol="0" anchor="ctr"/>
          <a:lstStyle/>
          <a:p>
            <a:pPr marL="0" indent="0" algn="ctr">
              <a:buNone/>
            </a:pPr>
            <a:r>
              <a:rPr lang="en-US" sz="2100" b="1" dirty="0">
                <a:solidFill>
                  <a:srgbClr val="0B1F3A"/>
                </a:solidFill>
                <a:latin typeface="Cambria" pitchFamily="34" charset="0"/>
                <a:ea typeface="Cambria" pitchFamily="34" charset="-122"/>
                <a:cs typeface="Cambria" pitchFamily="34" charset="-120"/>
              </a:rPr>
              <a:t>0.00</a:t>
            </a:r>
            <a:endParaRPr lang="en-US" sz="2100" dirty="0"/>
          </a:p>
        </p:txBody>
      </p:sp>
      <p:sp>
        <p:nvSpPr>
          <p:cNvPr id="18" name="Text 14"/>
          <p:cNvSpPr/>
          <p:nvPr/>
        </p:nvSpPr>
        <p:spPr>
          <a:xfrm>
            <a:off x="10277856" y="2697480"/>
            <a:ext cx="1371600" cy="640080"/>
          </a:xfrm>
          <a:prstGeom prst="rect">
            <a:avLst/>
          </a:prstGeom>
          <a:noFill/>
          <a:ln/>
        </p:spPr>
        <p:txBody>
          <a:bodyPr wrap="square" lIns="0" tIns="0" rIns="0" bIns="0" rtlCol="0" anchor="ctr"/>
          <a:lstStyle/>
          <a:p>
            <a:pPr marL="0" indent="0" algn="ctr">
              <a:lnSpc>
                <a:spcPct val="110000"/>
              </a:lnSpc>
              <a:buNone/>
            </a:pPr>
            <a:r>
              <a:rPr lang="en-US" sz="960" dirty="0">
                <a:solidFill>
                  <a:srgbClr val="5B6A82"/>
                </a:solidFill>
                <a:latin typeface="Calibri" pitchFamily="34" charset="0"/>
                <a:ea typeface="Calibri" pitchFamily="34" charset="-122"/>
                <a:cs typeface="Calibri" pitchFamily="34" charset="-120"/>
              </a:rPr>
              <a:t>Precision (class 1)</a:t>
            </a:r>
            <a:endParaRPr lang="en-US" sz="960" dirty="0"/>
          </a:p>
        </p:txBody>
      </p:sp>
      <p:sp>
        <p:nvSpPr>
          <p:cNvPr id="19" name="Shape 15"/>
          <p:cNvSpPr/>
          <p:nvPr/>
        </p:nvSpPr>
        <p:spPr>
          <a:xfrm>
            <a:off x="548640" y="3977640"/>
            <a:ext cx="5989320" cy="2331720"/>
          </a:xfrm>
          <a:prstGeom prst="roundRect">
            <a:avLst>
              <a:gd name="adj" fmla="val 3529"/>
            </a:avLst>
          </a:prstGeom>
          <a:solidFill>
            <a:srgbClr val="FBEDEC"/>
          </a:solidFill>
          <a:ln w="12700">
            <a:solidFill>
              <a:srgbClr val="EBC3BF"/>
            </a:solidFill>
            <a:prstDash val="solid"/>
          </a:ln>
          <a:effectLst>
            <a:outerShdw blurRad="101600" dist="25400" dir="5400000" algn="bl" rotWithShape="0">
              <a:srgbClr val="9AA7BD">
                <a:alpha val="35000"/>
              </a:srgbClr>
            </a:outerShdw>
          </a:effectLst>
        </p:spPr>
      </p:sp>
      <p:sp>
        <p:nvSpPr>
          <p:cNvPr id="20" name="Text 16"/>
          <p:cNvSpPr/>
          <p:nvPr/>
        </p:nvSpPr>
        <p:spPr>
          <a:xfrm>
            <a:off x="822960" y="4114800"/>
            <a:ext cx="5486400" cy="292608"/>
          </a:xfrm>
          <a:prstGeom prst="rect">
            <a:avLst/>
          </a:prstGeom>
          <a:noFill/>
          <a:ln/>
        </p:spPr>
        <p:txBody>
          <a:bodyPr wrap="square" lIns="0" tIns="0" rIns="0" bIns="0" rtlCol="0" anchor="ctr"/>
          <a:lstStyle/>
          <a:p>
            <a:pPr marL="0" indent="0">
              <a:buNone/>
            </a:pPr>
            <a:r>
              <a:rPr lang="en-US" sz="1250" b="1" dirty="0">
                <a:solidFill>
                  <a:srgbClr val="C1443A"/>
                </a:solidFill>
                <a:latin typeface="Calibri" pitchFamily="34" charset="0"/>
                <a:ea typeface="Calibri" pitchFamily="34" charset="-122"/>
                <a:cs typeface="Calibri" pitchFamily="34" charset="-120"/>
              </a:rPr>
              <a:t>Honest Read of Model Quality</a:t>
            </a:r>
            <a:endParaRPr lang="en-US" sz="1250" dirty="0"/>
          </a:p>
        </p:txBody>
      </p:sp>
      <p:sp>
        <p:nvSpPr>
          <p:cNvPr id="21" name="Text 17"/>
          <p:cNvSpPr/>
          <p:nvPr/>
        </p:nvSpPr>
        <p:spPr>
          <a:xfrm>
            <a:off x="822960" y="4443984"/>
            <a:ext cx="5486400" cy="1737360"/>
          </a:xfrm>
          <a:prstGeom prst="rect">
            <a:avLst/>
          </a:prstGeom>
          <a:noFill/>
          <a:ln/>
        </p:spPr>
        <p:txBody>
          <a:bodyPr wrap="square" lIns="0" tIns="0" rIns="0" bIns="0" rtlCol="0" anchor="ctr"/>
          <a:lstStyle/>
          <a:p>
            <a:pPr marL="0" indent="0">
              <a:lnSpc>
                <a:spcPct val="122000"/>
              </a:lnSpc>
              <a:buNone/>
            </a:pPr>
            <a:r>
              <a:rPr lang="en-US" sz="1080" dirty="0">
                <a:solidFill>
                  <a:srgbClr val="16233B"/>
                </a:solidFill>
                <a:latin typeface="Calibri" pitchFamily="34" charset="0"/>
                <a:ea typeface="Calibri" pitchFamily="34" charset="-122"/>
                <a:cs typeface="Calibri" pitchFamily="34" charset="-120"/>
              </a:rPr>
              <a:t>The dataset is imbalanced – only about 7% of sessions convert. The model reaches 93% accuracy simply by leaning toward the majority “not converted” class, so precision/recall on actual conversions are effectively zero at the default threshold. ROC-AUC of 0.63 shows the model has real, moderate signal – useful for ranking session quality – but it is not yet reliable as a stand-alone converter/non-converter classifier. Next step: address class imbalance (class weighting / resampling) and tune the decision threshold before deployment.</a:t>
            </a:r>
            <a:endParaRPr lang="en-US" sz="1080" dirty="0"/>
          </a:p>
        </p:txBody>
      </p:sp>
      <p:sp>
        <p:nvSpPr>
          <p:cNvPr id="22" name="Shape 18"/>
          <p:cNvSpPr/>
          <p:nvPr/>
        </p:nvSpPr>
        <p:spPr>
          <a:xfrm>
            <a:off x="6720840" y="3977640"/>
            <a:ext cx="4919472" cy="2331720"/>
          </a:xfrm>
          <a:prstGeom prst="roundRect">
            <a:avLst>
              <a:gd name="adj" fmla="val 3529"/>
            </a:avLst>
          </a:prstGeom>
          <a:solidFill>
            <a:srgbClr val="0B1F3A"/>
          </a:solidFill>
          <a:ln w="12700">
            <a:solidFill>
              <a:srgbClr val="0B1F3A"/>
            </a:solidFill>
            <a:prstDash val="solid"/>
          </a:ln>
          <a:effectLst>
            <a:outerShdw blurRad="101600" dist="25400" dir="5400000" algn="bl" rotWithShape="0">
              <a:srgbClr val="9AA7BD">
                <a:alpha val="35000"/>
              </a:srgbClr>
            </a:outerShdw>
          </a:effectLst>
        </p:spPr>
      </p:sp>
      <p:sp>
        <p:nvSpPr>
          <p:cNvPr id="23" name="Text 19"/>
          <p:cNvSpPr/>
          <p:nvPr/>
        </p:nvSpPr>
        <p:spPr>
          <a:xfrm>
            <a:off x="6949440" y="4114800"/>
            <a:ext cx="4480560" cy="274320"/>
          </a:xfrm>
          <a:prstGeom prst="rect">
            <a:avLst/>
          </a:prstGeom>
          <a:noFill/>
          <a:ln/>
        </p:spPr>
        <p:txBody>
          <a:bodyPr wrap="square" lIns="0" tIns="0" rIns="0" bIns="0" rtlCol="0" anchor="ctr"/>
          <a:lstStyle/>
          <a:p>
            <a:pPr marL="0" indent="0">
              <a:buNone/>
            </a:pPr>
            <a:r>
              <a:rPr lang="en-US" sz="1250" b="1" dirty="0">
                <a:solidFill>
                  <a:srgbClr val="F2B134"/>
                </a:solidFill>
                <a:latin typeface="Calibri" pitchFamily="34" charset="0"/>
                <a:ea typeface="Calibri" pitchFamily="34" charset="-122"/>
                <a:cs typeface="Calibri" pitchFamily="34" charset="-120"/>
              </a:rPr>
              <a:t>What Drives Conversion Odds</a:t>
            </a:r>
            <a:endParaRPr lang="en-US" sz="1250" dirty="0"/>
          </a:p>
        </p:txBody>
      </p:sp>
      <p:sp>
        <p:nvSpPr>
          <p:cNvPr id="24" name="Text 20"/>
          <p:cNvSpPr/>
          <p:nvPr/>
        </p:nvSpPr>
        <p:spPr>
          <a:xfrm>
            <a:off x="6949440" y="4434840"/>
            <a:ext cx="4480560" cy="219456"/>
          </a:xfrm>
          <a:prstGeom prst="rect">
            <a:avLst/>
          </a:prstGeom>
          <a:noFill/>
          <a:ln/>
        </p:spPr>
        <p:txBody>
          <a:bodyPr wrap="square" lIns="0" tIns="0" rIns="0" bIns="0" rtlCol="0" anchor="ctr"/>
          <a:lstStyle/>
          <a:p>
            <a:pPr marL="0" indent="0">
              <a:buNone/>
            </a:pPr>
            <a:r>
              <a:rPr lang="en-US" sz="1030" b="1" dirty="0">
                <a:solidFill>
                  <a:srgbClr val="3FA796"/>
                </a:solidFill>
                <a:latin typeface="Calibri" pitchFamily="34" charset="0"/>
                <a:ea typeface="Calibri" pitchFamily="34" charset="-122"/>
                <a:cs typeface="Calibri" pitchFamily="34" charset="-120"/>
              </a:rPr>
              <a:t>Raises odds:</a:t>
            </a:r>
            <a:endParaRPr lang="en-US" sz="1030" dirty="0"/>
          </a:p>
        </p:txBody>
      </p:sp>
      <p:sp>
        <p:nvSpPr>
          <p:cNvPr id="25" name="Text 21"/>
          <p:cNvSpPr/>
          <p:nvPr/>
        </p:nvSpPr>
        <p:spPr>
          <a:xfrm>
            <a:off x="6949440" y="4645152"/>
            <a:ext cx="4480560" cy="365760"/>
          </a:xfrm>
          <a:prstGeom prst="rect">
            <a:avLst/>
          </a:prstGeom>
          <a:noFill/>
          <a:ln/>
        </p:spPr>
        <p:txBody>
          <a:bodyPr wrap="square" lIns="0" tIns="0" rIns="0" bIns="0" rtlCol="0" anchor="ctr"/>
          <a:lstStyle/>
          <a:p>
            <a:pPr marL="0" indent="0">
              <a:lnSpc>
                <a:spcPct val="115000"/>
              </a:lnSpc>
              <a:buNone/>
            </a:pPr>
            <a:r>
              <a:rPr lang="en-US" sz="980" dirty="0">
                <a:solidFill>
                  <a:srgbClr val="E6ECF7"/>
                </a:solidFill>
                <a:latin typeface="Calibri" pitchFamily="34" charset="0"/>
                <a:ea typeface="Calibri" pitchFamily="34" charset="-122"/>
                <a:cs typeface="Calibri" pitchFamily="34" charset="-120"/>
              </a:rPr>
              <a:t>Later years/months in the dataset  •  Repeat session  •  Time-of-day / weekday effects (small)</a:t>
            </a:r>
            <a:endParaRPr lang="en-US" sz="980" dirty="0"/>
          </a:p>
        </p:txBody>
      </p:sp>
      <p:sp>
        <p:nvSpPr>
          <p:cNvPr id="26" name="Text 22"/>
          <p:cNvSpPr/>
          <p:nvPr/>
        </p:nvSpPr>
        <p:spPr>
          <a:xfrm>
            <a:off x="6949440" y="5029200"/>
            <a:ext cx="4480560" cy="219456"/>
          </a:xfrm>
          <a:prstGeom prst="rect">
            <a:avLst/>
          </a:prstGeom>
          <a:noFill/>
          <a:ln/>
        </p:spPr>
        <p:txBody>
          <a:bodyPr wrap="square" lIns="0" tIns="0" rIns="0" bIns="0" rtlCol="0" anchor="ctr"/>
          <a:lstStyle/>
          <a:p>
            <a:pPr marL="0" indent="0">
              <a:buNone/>
            </a:pPr>
            <a:r>
              <a:rPr lang="en-US" sz="1030" b="1" dirty="0">
                <a:solidFill>
                  <a:srgbClr val="FF9B90"/>
                </a:solidFill>
                <a:latin typeface="Calibri" pitchFamily="34" charset="0"/>
                <a:ea typeface="Calibri" pitchFamily="34" charset="-122"/>
                <a:cs typeface="Calibri" pitchFamily="34" charset="-120"/>
              </a:rPr>
              <a:t>Lowers odds:</a:t>
            </a:r>
            <a:endParaRPr lang="en-US" sz="1030" dirty="0"/>
          </a:p>
        </p:txBody>
      </p:sp>
      <p:sp>
        <p:nvSpPr>
          <p:cNvPr id="27" name="Text 23"/>
          <p:cNvSpPr/>
          <p:nvPr/>
        </p:nvSpPr>
        <p:spPr>
          <a:xfrm>
            <a:off x="6949440" y="5239512"/>
            <a:ext cx="4480560" cy="548640"/>
          </a:xfrm>
          <a:prstGeom prst="rect">
            <a:avLst/>
          </a:prstGeom>
          <a:noFill/>
          <a:ln/>
        </p:spPr>
        <p:txBody>
          <a:bodyPr wrap="square" lIns="0" tIns="0" rIns="0" bIns="0" rtlCol="0" anchor="ctr"/>
          <a:lstStyle/>
          <a:p>
            <a:pPr marL="0" indent="0">
              <a:lnSpc>
                <a:spcPct val="115000"/>
              </a:lnSpc>
              <a:buNone/>
            </a:pPr>
            <a:r>
              <a:rPr lang="en-US" sz="980" dirty="0">
                <a:solidFill>
                  <a:srgbClr val="E6ECF7"/>
                </a:solidFill>
                <a:latin typeface="Calibri" pitchFamily="34" charset="0"/>
                <a:ea typeface="Calibri" pitchFamily="34" charset="-122"/>
                <a:cs typeface="Calibri" pitchFamily="34" charset="-120"/>
              </a:rPr>
              <a:t>Mobile device (strongest negative driver)  •  Social (socialbook) traffic  •  Paid non-brand / pilot campaigns  •  bsearch source</a:t>
            </a:r>
            <a:endParaRPr lang="en-US" sz="980" dirty="0"/>
          </a:p>
        </p:txBody>
      </p:sp>
      <p:sp>
        <p:nvSpPr>
          <p:cNvPr id="28" name="Text 24"/>
          <p:cNvSpPr/>
          <p:nvPr/>
        </p:nvSpPr>
        <p:spPr>
          <a:xfrm>
            <a:off x="6949440" y="5806440"/>
            <a:ext cx="4480560" cy="457200"/>
          </a:xfrm>
          <a:prstGeom prst="rect">
            <a:avLst/>
          </a:prstGeom>
          <a:noFill/>
          <a:ln/>
        </p:spPr>
        <p:txBody>
          <a:bodyPr wrap="square" lIns="0" tIns="0" rIns="0" bIns="0" rtlCol="0" anchor="ctr"/>
          <a:lstStyle/>
          <a:p>
            <a:pPr marL="0" indent="0">
              <a:lnSpc>
                <a:spcPct val="115000"/>
              </a:lnSpc>
              <a:buNone/>
            </a:pPr>
            <a:r>
              <a:rPr lang="en-US" sz="960" i="1" dirty="0">
                <a:solidFill>
                  <a:srgbClr val="9FB2CE"/>
                </a:solidFill>
                <a:latin typeface="Calibri" pitchFamily="34" charset="0"/>
                <a:ea typeface="Calibri" pitchFamily="34" charset="-122"/>
                <a:cs typeface="Calibri" pitchFamily="34" charset="-120"/>
              </a:rPr>
              <a:t>Confirms the diagnostic finding: mobile and social traffic are the clearest places to improve conversion.</a:t>
            </a:r>
            <a:endParaRPr lang="en-US" sz="960" dirty="0"/>
          </a:p>
        </p:txBody>
      </p:sp>
      <p:sp>
        <p:nvSpPr>
          <p:cNvPr id="29" name="Text 25"/>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30" name="Text 26"/>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185416" cy="292608"/>
          </a:xfrm>
          <a:prstGeom prst="roundRect">
            <a:avLst>
              <a:gd name="adj" fmla="val 25000"/>
            </a:avLst>
          </a:prstGeom>
          <a:solidFill>
            <a:srgbClr val="F2B134"/>
          </a:solidFill>
          <a:ln/>
        </p:spPr>
      </p:sp>
      <p:sp>
        <p:nvSpPr>
          <p:cNvPr id="3" name="Text 1"/>
          <p:cNvSpPr/>
          <p:nvPr/>
        </p:nvSpPr>
        <p:spPr>
          <a:xfrm>
            <a:off x="502920" y="384048"/>
            <a:ext cx="2185416"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POWER BI REPORTING</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Power BI Reporting Hub</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Four published dashboards, one navigation home page – built and shared by Shubham Vishwakarma</a:t>
            </a:r>
            <a:endParaRPr lang="en-US" sz="1300" dirty="0"/>
          </a:p>
        </p:txBody>
      </p:sp>
      <p:sp>
        <p:nvSpPr>
          <p:cNvPr id="6" name="Shape 4"/>
          <p:cNvSpPr/>
          <p:nvPr/>
        </p:nvSpPr>
        <p:spPr>
          <a:xfrm>
            <a:off x="1417320" y="1874520"/>
            <a:ext cx="9326880" cy="4434840"/>
          </a:xfrm>
          <a:prstGeom prst="roundRect">
            <a:avLst>
              <a:gd name="adj" fmla="val 185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dlbf/Executive-Overview.png"/>
          <p:cNvPicPr>
            <a:picLocks noChangeAspect="1"/>
          </p:cNvPicPr>
          <p:nvPr/>
        </p:nvPicPr>
        <p:blipFill>
          <a:blip r:embed="rId2"/>
          <a:stretch>
            <a:fillRect/>
          </a:stretch>
        </p:blipFill>
        <p:spPr>
          <a:xfrm>
            <a:off x="1600200" y="1993392"/>
            <a:ext cx="8961120" cy="4197096"/>
          </a:xfrm>
          <a:prstGeom prst="rect">
            <a:avLst/>
          </a:prstGeom>
        </p:spPr>
      </p:pic>
      <p:sp>
        <p:nvSpPr>
          <p:cNvPr id="8" name="Text 5"/>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9" name="Text 6"/>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185416" cy="292608"/>
          </a:xfrm>
          <a:prstGeom prst="roundRect">
            <a:avLst>
              <a:gd name="adj" fmla="val 25000"/>
            </a:avLst>
          </a:prstGeom>
          <a:solidFill>
            <a:srgbClr val="F2B134"/>
          </a:solidFill>
          <a:ln/>
        </p:spPr>
      </p:sp>
      <p:sp>
        <p:nvSpPr>
          <p:cNvPr id="3" name="Text 1"/>
          <p:cNvSpPr/>
          <p:nvPr/>
        </p:nvSpPr>
        <p:spPr>
          <a:xfrm>
            <a:off x="502920" y="384048"/>
            <a:ext cx="2185416"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POWER BI REPORTING</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Executive Overview Dashboard</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Dynamic, filterable by date, device type &amp; UTM source – published to Power BI Service</a:t>
            </a:r>
            <a:endParaRPr lang="en-US" sz="1300" dirty="0"/>
          </a:p>
        </p:txBody>
      </p:sp>
      <p:sp>
        <p:nvSpPr>
          <p:cNvPr id="6" name="Shape 4"/>
          <p:cNvSpPr/>
          <p:nvPr/>
        </p:nvSpPr>
        <p:spPr>
          <a:xfrm>
            <a:off x="1417320" y="1874520"/>
            <a:ext cx="9326880" cy="4434840"/>
          </a:xfrm>
          <a:prstGeom prst="roundRect">
            <a:avLst>
              <a:gd name="adj" fmla="val 1856"/>
            </a:avLst>
          </a:prstGeom>
          <a:solidFill>
            <a:srgbClr val="FFFFFF"/>
          </a:solidFill>
          <a:ln w="12700">
            <a:solidFill>
              <a:srgbClr val="E1E6EF"/>
            </a:solidFill>
            <a:prstDash val="solid"/>
          </a:ln>
          <a:effectLst>
            <a:outerShdw blurRad="101600" dist="25400" dir="5400000" algn="bl" rotWithShape="0">
              <a:srgbClr val="9AA7BD">
                <a:alpha val="35000"/>
              </a:srgbClr>
            </a:outerShdw>
          </a:effectLst>
        </p:spPr>
      </p:sp>
      <p:pic>
        <p:nvPicPr>
          <p:cNvPr id="7" name="Image 0" descr="/home/claude/work/dlbf/Executive-Overview.png"/>
          <p:cNvPicPr>
            <a:picLocks noChangeAspect="1"/>
          </p:cNvPicPr>
          <p:nvPr/>
        </p:nvPicPr>
        <p:blipFill>
          <a:blip r:embed="rId3"/>
          <a:stretch>
            <a:fillRect/>
          </a:stretch>
        </p:blipFill>
        <p:spPr>
          <a:xfrm>
            <a:off x="1600200" y="1993392"/>
            <a:ext cx="8961120" cy="4197096"/>
          </a:xfrm>
          <a:prstGeom prst="rect">
            <a:avLst/>
          </a:prstGeom>
        </p:spPr>
      </p:pic>
      <p:sp>
        <p:nvSpPr>
          <p:cNvPr id="8" name="Text 5"/>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9" name="Text 6"/>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1225296" cy="292608"/>
          </a:xfrm>
          <a:prstGeom prst="roundRect">
            <a:avLst>
              <a:gd name="adj" fmla="val 25000"/>
            </a:avLst>
          </a:prstGeom>
          <a:solidFill>
            <a:srgbClr val="F2B134"/>
          </a:solidFill>
          <a:ln/>
        </p:spPr>
      </p:sp>
      <p:sp>
        <p:nvSpPr>
          <p:cNvPr id="3" name="Text 1"/>
          <p:cNvSpPr/>
          <p:nvPr/>
        </p:nvSpPr>
        <p:spPr>
          <a:xfrm>
            <a:off x="502920" y="384048"/>
            <a:ext cx="1225296"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FINDINGS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Key Business Findings</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Synthesised from SQL, Python and Power BI analysis</a:t>
            </a:r>
            <a:endParaRPr lang="en-US" sz="1300" dirty="0"/>
          </a:p>
        </p:txBody>
      </p:sp>
      <p:sp>
        <p:nvSpPr>
          <p:cNvPr id="6" name="Shape 4"/>
          <p:cNvSpPr/>
          <p:nvPr/>
        </p:nvSpPr>
        <p:spPr>
          <a:xfrm>
            <a:off x="548640" y="1920240"/>
            <a:ext cx="5394960" cy="1298448"/>
          </a:xfrm>
          <a:prstGeom prst="roundRect">
            <a:avLst>
              <a:gd name="adj" fmla="val 6338"/>
            </a:avLst>
          </a:prstGeom>
          <a:solidFill>
            <a:srgbClr val="FFFFFF"/>
          </a:solidFill>
          <a:ln w="12700">
            <a:solidFill>
              <a:srgbClr val="E1E6EF"/>
            </a:solidFill>
            <a:prstDash val="solid"/>
          </a:ln>
        </p:spPr>
      </p:sp>
      <p:sp>
        <p:nvSpPr>
          <p:cNvPr id="7" name="Shape 5"/>
          <p:cNvSpPr/>
          <p:nvPr/>
        </p:nvSpPr>
        <p:spPr>
          <a:xfrm>
            <a:off x="804672" y="2103120"/>
            <a:ext cx="118872" cy="118872"/>
          </a:xfrm>
          <a:prstGeom prst="ellipse">
            <a:avLst/>
          </a:prstGeom>
          <a:solidFill>
            <a:srgbClr val="F2B134"/>
          </a:solidFill>
          <a:ln/>
        </p:spPr>
      </p:sp>
      <p:sp>
        <p:nvSpPr>
          <p:cNvPr id="8" name="Text 6"/>
          <p:cNvSpPr/>
          <p:nvPr/>
        </p:nvSpPr>
        <p:spPr>
          <a:xfrm>
            <a:off x="1051560" y="2048256"/>
            <a:ext cx="466344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Revenue is concentrated</a:t>
            </a:r>
            <a:endParaRPr lang="en-US" sz="1250" dirty="0"/>
          </a:p>
        </p:txBody>
      </p:sp>
      <p:sp>
        <p:nvSpPr>
          <p:cNvPr id="9" name="Text 7"/>
          <p:cNvSpPr/>
          <p:nvPr/>
        </p:nvSpPr>
        <p:spPr>
          <a:xfrm>
            <a:off x="822960" y="2377440"/>
            <a:ext cx="4892040" cy="777240"/>
          </a:xfrm>
          <a:prstGeom prst="rect">
            <a:avLst/>
          </a:prstGeom>
          <a:noFill/>
          <a:ln/>
        </p:spPr>
        <p:txBody>
          <a:bodyPr wrap="square" lIns="0" tIns="0" rIns="0" bIns="0" rtlCol="0" anchor="ctr"/>
          <a:lstStyle/>
          <a:p>
            <a:pPr marL="0" indent="0">
              <a:lnSpc>
                <a:spcPct val="118000"/>
              </a:lnSpc>
              <a:buNone/>
            </a:pPr>
            <a:r>
              <a:rPr lang="en-US" sz="1030" dirty="0">
                <a:solidFill>
                  <a:srgbClr val="5B6A82"/>
                </a:solidFill>
                <a:latin typeface="Calibri" pitchFamily="34" charset="0"/>
                <a:ea typeface="Calibri" pitchFamily="34" charset="-122"/>
                <a:cs typeface="Calibri" pitchFamily="34" charset="-120"/>
              </a:rPr>
              <a:t>The Original Mr. Fuzzy alone drives 62% of revenue and 61% of gross profit – the business is highly dependent on one SKU.</a:t>
            </a:r>
            <a:endParaRPr lang="en-US" sz="1030" dirty="0"/>
          </a:p>
        </p:txBody>
      </p:sp>
      <p:sp>
        <p:nvSpPr>
          <p:cNvPr id="10" name="Shape 8"/>
          <p:cNvSpPr/>
          <p:nvPr/>
        </p:nvSpPr>
        <p:spPr>
          <a:xfrm>
            <a:off x="6309360" y="1920240"/>
            <a:ext cx="5394960" cy="1298448"/>
          </a:xfrm>
          <a:prstGeom prst="roundRect">
            <a:avLst>
              <a:gd name="adj" fmla="val 6338"/>
            </a:avLst>
          </a:prstGeom>
          <a:solidFill>
            <a:srgbClr val="FFFFFF"/>
          </a:solidFill>
          <a:ln w="12700">
            <a:solidFill>
              <a:srgbClr val="E1E6EF"/>
            </a:solidFill>
            <a:prstDash val="solid"/>
          </a:ln>
        </p:spPr>
      </p:sp>
      <p:sp>
        <p:nvSpPr>
          <p:cNvPr id="11" name="Shape 9"/>
          <p:cNvSpPr/>
          <p:nvPr/>
        </p:nvSpPr>
        <p:spPr>
          <a:xfrm>
            <a:off x="6565392" y="2103120"/>
            <a:ext cx="118872" cy="118872"/>
          </a:xfrm>
          <a:prstGeom prst="ellipse">
            <a:avLst/>
          </a:prstGeom>
          <a:solidFill>
            <a:srgbClr val="F2B134"/>
          </a:solidFill>
          <a:ln/>
        </p:spPr>
      </p:sp>
      <p:sp>
        <p:nvSpPr>
          <p:cNvPr id="12" name="Text 10"/>
          <p:cNvSpPr/>
          <p:nvPr/>
        </p:nvSpPr>
        <p:spPr>
          <a:xfrm>
            <a:off x="6812280" y="2048256"/>
            <a:ext cx="466344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Mobile is under-converting</a:t>
            </a:r>
            <a:endParaRPr lang="en-US" sz="1250" dirty="0"/>
          </a:p>
        </p:txBody>
      </p:sp>
      <p:sp>
        <p:nvSpPr>
          <p:cNvPr id="13" name="Text 11"/>
          <p:cNvSpPr/>
          <p:nvPr/>
        </p:nvSpPr>
        <p:spPr>
          <a:xfrm>
            <a:off x="6583680" y="2377440"/>
            <a:ext cx="4892040" cy="777240"/>
          </a:xfrm>
          <a:prstGeom prst="rect">
            <a:avLst/>
          </a:prstGeom>
          <a:noFill/>
          <a:ln/>
        </p:spPr>
        <p:txBody>
          <a:bodyPr wrap="square" lIns="0" tIns="0" rIns="0" bIns="0" rtlCol="0" anchor="ctr"/>
          <a:lstStyle/>
          <a:p>
            <a:pPr marL="0" indent="0">
              <a:lnSpc>
                <a:spcPct val="118000"/>
              </a:lnSpc>
              <a:buNone/>
            </a:pPr>
            <a:r>
              <a:rPr lang="en-US" sz="1030" dirty="0">
                <a:solidFill>
                  <a:srgbClr val="5B6A82"/>
                </a:solidFill>
                <a:latin typeface="Calibri" pitchFamily="34" charset="0"/>
                <a:ea typeface="Calibri" pitchFamily="34" charset="-122"/>
                <a:cs typeface="Calibri" pitchFamily="34" charset="-120"/>
              </a:rPr>
              <a:t>Mobile sessions convert at 3.09% vs 8.50% on desktop — the single largest, most fixable performance gap identified.</a:t>
            </a:r>
            <a:endParaRPr lang="en-US" sz="1030" dirty="0"/>
          </a:p>
        </p:txBody>
      </p:sp>
      <p:sp>
        <p:nvSpPr>
          <p:cNvPr id="14" name="Shape 12"/>
          <p:cNvSpPr/>
          <p:nvPr/>
        </p:nvSpPr>
        <p:spPr>
          <a:xfrm>
            <a:off x="548640" y="3364992"/>
            <a:ext cx="5394960" cy="1298448"/>
          </a:xfrm>
          <a:prstGeom prst="roundRect">
            <a:avLst>
              <a:gd name="adj" fmla="val 6338"/>
            </a:avLst>
          </a:prstGeom>
          <a:solidFill>
            <a:srgbClr val="FFFFFF"/>
          </a:solidFill>
          <a:ln w="12700">
            <a:solidFill>
              <a:srgbClr val="E1E6EF"/>
            </a:solidFill>
            <a:prstDash val="solid"/>
          </a:ln>
        </p:spPr>
      </p:sp>
      <p:sp>
        <p:nvSpPr>
          <p:cNvPr id="15" name="Shape 13"/>
          <p:cNvSpPr/>
          <p:nvPr/>
        </p:nvSpPr>
        <p:spPr>
          <a:xfrm>
            <a:off x="804672" y="3547872"/>
            <a:ext cx="118872" cy="118872"/>
          </a:xfrm>
          <a:prstGeom prst="ellipse">
            <a:avLst/>
          </a:prstGeom>
          <a:solidFill>
            <a:srgbClr val="F2B134"/>
          </a:solidFill>
          <a:ln/>
        </p:spPr>
      </p:sp>
      <p:sp>
        <p:nvSpPr>
          <p:cNvPr id="16" name="Text 14"/>
          <p:cNvSpPr/>
          <p:nvPr/>
        </p:nvSpPr>
        <p:spPr>
          <a:xfrm>
            <a:off x="1051560" y="3493008"/>
            <a:ext cx="466344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Paid search scales volume, not efficiency</a:t>
            </a:r>
            <a:endParaRPr lang="en-US" sz="1250" dirty="0"/>
          </a:p>
        </p:txBody>
      </p:sp>
      <p:sp>
        <p:nvSpPr>
          <p:cNvPr id="17" name="Text 15"/>
          <p:cNvSpPr/>
          <p:nvPr/>
        </p:nvSpPr>
        <p:spPr>
          <a:xfrm>
            <a:off x="822960" y="3822192"/>
            <a:ext cx="4892040" cy="777240"/>
          </a:xfrm>
          <a:prstGeom prst="rect">
            <a:avLst/>
          </a:prstGeom>
          <a:noFill/>
          <a:ln/>
        </p:spPr>
        <p:txBody>
          <a:bodyPr wrap="square" lIns="0" tIns="0" rIns="0" bIns="0" rtlCol="0" anchor="ctr"/>
          <a:lstStyle/>
          <a:p>
            <a:pPr marL="0" indent="0">
              <a:lnSpc>
                <a:spcPct val="118000"/>
              </a:lnSpc>
              <a:buNone/>
            </a:pPr>
            <a:r>
              <a:rPr lang="en-US" sz="1030" dirty="0">
                <a:solidFill>
                  <a:srgbClr val="5B6A82"/>
                </a:solidFill>
                <a:latin typeface="Calibri" pitchFamily="34" charset="0"/>
                <a:ea typeface="Calibri" pitchFamily="34" charset="-122"/>
                <a:cs typeface="Calibri" pitchFamily="34" charset="-120"/>
              </a:rPr>
              <a:t>gsearch brings the most sessions and revenue, but direct/organic and bsearch traffic convert more efficiently per session.</a:t>
            </a:r>
            <a:endParaRPr lang="en-US" sz="1030" dirty="0"/>
          </a:p>
        </p:txBody>
      </p:sp>
      <p:sp>
        <p:nvSpPr>
          <p:cNvPr id="18" name="Shape 16"/>
          <p:cNvSpPr/>
          <p:nvPr/>
        </p:nvSpPr>
        <p:spPr>
          <a:xfrm>
            <a:off x="6309360" y="3364992"/>
            <a:ext cx="5394960" cy="1298448"/>
          </a:xfrm>
          <a:prstGeom prst="roundRect">
            <a:avLst>
              <a:gd name="adj" fmla="val 6338"/>
            </a:avLst>
          </a:prstGeom>
          <a:solidFill>
            <a:srgbClr val="FFFFFF"/>
          </a:solidFill>
          <a:ln w="12700">
            <a:solidFill>
              <a:srgbClr val="E1E6EF"/>
            </a:solidFill>
            <a:prstDash val="solid"/>
          </a:ln>
        </p:spPr>
      </p:sp>
      <p:sp>
        <p:nvSpPr>
          <p:cNvPr id="19" name="Shape 17"/>
          <p:cNvSpPr/>
          <p:nvPr/>
        </p:nvSpPr>
        <p:spPr>
          <a:xfrm>
            <a:off x="6565392" y="3547872"/>
            <a:ext cx="118872" cy="118872"/>
          </a:xfrm>
          <a:prstGeom prst="ellipse">
            <a:avLst/>
          </a:prstGeom>
          <a:solidFill>
            <a:srgbClr val="F2B134"/>
          </a:solidFill>
          <a:ln/>
        </p:spPr>
      </p:sp>
      <p:sp>
        <p:nvSpPr>
          <p:cNvPr id="20" name="Text 18"/>
          <p:cNvSpPr/>
          <p:nvPr/>
        </p:nvSpPr>
        <p:spPr>
          <a:xfrm>
            <a:off x="6812280" y="3493008"/>
            <a:ext cx="466344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Margin and refund risk can co-exist</a:t>
            </a:r>
            <a:endParaRPr lang="en-US" sz="1250" dirty="0"/>
          </a:p>
        </p:txBody>
      </p:sp>
      <p:sp>
        <p:nvSpPr>
          <p:cNvPr id="21" name="Text 19"/>
          <p:cNvSpPr/>
          <p:nvPr/>
        </p:nvSpPr>
        <p:spPr>
          <a:xfrm>
            <a:off x="6583680" y="3822192"/>
            <a:ext cx="4892040" cy="777240"/>
          </a:xfrm>
          <a:prstGeom prst="rect">
            <a:avLst/>
          </a:prstGeom>
          <a:noFill/>
          <a:ln/>
        </p:spPr>
        <p:txBody>
          <a:bodyPr wrap="square" lIns="0" tIns="0" rIns="0" bIns="0" rtlCol="0" anchor="ctr"/>
          <a:lstStyle/>
          <a:p>
            <a:pPr marL="0" indent="0">
              <a:lnSpc>
                <a:spcPct val="118000"/>
              </a:lnSpc>
              <a:buNone/>
            </a:pPr>
            <a:r>
              <a:rPr lang="en-US" sz="1030" dirty="0">
                <a:solidFill>
                  <a:srgbClr val="5B6A82"/>
                </a:solidFill>
                <a:latin typeface="Calibri" pitchFamily="34" charset="0"/>
                <a:ea typeface="Calibri" pitchFamily="34" charset="-122"/>
                <a:cs typeface="Calibri" pitchFamily="34" charset="-120"/>
              </a:rPr>
              <a:t>The Birthday Sugar Panda has the best margin (68.5%) and the highest refund rate (6.04%) – worth a quality/expectations review.</a:t>
            </a:r>
            <a:endParaRPr lang="en-US" sz="1030" dirty="0"/>
          </a:p>
        </p:txBody>
      </p:sp>
      <p:sp>
        <p:nvSpPr>
          <p:cNvPr id="22" name="Shape 20"/>
          <p:cNvSpPr/>
          <p:nvPr/>
        </p:nvSpPr>
        <p:spPr>
          <a:xfrm>
            <a:off x="548640" y="4809744"/>
            <a:ext cx="5394960" cy="1298448"/>
          </a:xfrm>
          <a:prstGeom prst="roundRect">
            <a:avLst>
              <a:gd name="adj" fmla="val 6338"/>
            </a:avLst>
          </a:prstGeom>
          <a:solidFill>
            <a:srgbClr val="FFFFFF"/>
          </a:solidFill>
          <a:ln w="12700">
            <a:solidFill>
              <a:srgbClr val="E1E6EF"/>
            </a:solidFill>
            <a:prstDash val="solid"/>
          </a:ln>
        </p:spPr>
      </p:sp>
      <p:sp>
        <p:nvSpPr>
          <p:cNvPr id="23" name="Shape 21"/>
          <p:cNvSpPr/>
          <p:nvPr/>
        </p:nvSpPr>
        <p:spPr>
          <a:xfrm>
            <a:off x="804672" y="4992624"/>
            <a:ext cx="118872" cy="118872"/>
          </a:xfrm>
          <a:prstGeom prst="ellipse">
            <a:avLst/>
          </a:prstGeom>
          <a:solidFill>
            <a:srgbClr val="F2B134"/>
          </a:solidFill>
          <a:ln/>
        </p:spPr>
      </p:sp>
      <p:sp>
        <p:nvSpPr>
          <p:cNvPr id="24" name="Text 22"/>
          <p:cNvSpPr/>
          <p:nvPr/>
        </p:nvSpPr>
        <p:spPr>
          <a:xfrm>
            <a:off x="1051560" y="4937760"/>
            <a:ext cx="466344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Repeat visitors are more valuable</a:t>
            </a:r>
            <a:endParaRPr lang="en-US" sz="1250" dirty="0"/>
          </a:p>
        </p:txBody>
      </p:sp>
      <p:sp>
        <p:nvSpPr>
          <p:cNvPr id="25" name="Text 23"/>
          <p:cNvSpPr/>
          <p:nvPr/>
        </p:nvSpPr>
        <p:spPr>
          <a:xfrm>
            <a:off x="822960" y="5266944"/>
            <a:ext cx="4892040" cy="777240"/>
          </a:xfrm>
          <a:prstGeom prst="rect">
            <a:avLst/>
          </a:prstGeom>
          <a:noFill/>
          <a:ln/>
        </p:spPr>
        <p:txBody>
          <a:bodyPr wrap="square" lIns="0" tIns="0" rIns="0" bIns="0" rtlCol="0" anchor="ctr"/>
          <a:lstStyle/>
          <a:p>
            <a:pPr marL="0" indent="0">
              <a:lnSpc>
                <a:spcPct val="118000"/>
              </a:lnSpc>
              <a:buNone/>
            </a:pPr>
            <a:r>
              <a:rPr lang="en-US" sz="1030" dirty="0">
                <a:solidFill>
                  <a:srgbClr val="5B6A82"/>
                </a:solidFill>
                <a:latin typeface="Calibri" pitchFamily="34" charset="0"/>
                <a:ea typeface="Calibri" pitchFamily="34" charset="-122"/>
                <a:cs typeface="Calibri" pitchFamily="34" charset="-120"/>
              </a:rPr>
              <a:t>Repeat sessions convert at 7.83% vs 6.64% for new sessions and generate $0.77 more revenue per session.</a:t>
            </a:r>
            <a:endParaRPr lang="en-US" sz="1030" dirty="0"/>
          </a:p>
        </p:txBody>
      </p:sp>
      <p:sp>
        <p:nvSpPr>
          <p:cNvPr id="26" name="Shape 24"/>
          <p:cNvSpPr/>
          <p:nvPr/>
        </p:nvSpPr>
        <p:spPr>
          <a:xfrm>
            <a:off x="6309360" y="4809744"/>
            <a:ext cx="5394960" cy="1298448"/>
          </a:xfrm>
          <a:prstGeom prst="roundRect">
            <a:avLst>
              <a:gd name="adj" fmla="val 6338"/>
            </a:avLst>
          </a:prstGeom>
          <a:solidFill>
            <a:srgbClr val="FFFFFF"/>
          </a:solidFill>
          <a:ln w="12700">
            <a:solidFill>
              <a:srgbClr val="E1E6EF"/>
            </a:solidFill>
            <a:prstDash val="solid"/>
          </a:ln>
        </p:spPr>
      </p:sp>
      <p:sp>
        <p:nvSpPr>
          <p:cNvPr id="27" name="Shape 25"/>
          <p:cNvSpPr/>
          <p:nvPr/>
        </p:nvSpPr>
        <p:spPr>
          <a:xfrm>
            <a:off x="6565392" y="4992624"/>
            <a:ext cx="118872" cy="118872"/>
          </a:xfrm>
          <a:prstGeom prst="ellipse">
            <a:avLst/>
          </a:prstGeom>
          <a:solidFill>
            <a:srgbClr val="F2B134"/>
          </a:solidFill>
          <a:ln/>
        </p:spPr>
      </p:sp>
      <p:sp>
        <p:nvSpPr>
          <p:cNvPr id="28" name="Text 26"/>
          <p:cNvSpPr/>
          <p:nvPr/>
        </p:nvSpPr>
        <p:spPr>
          <a:xfrm>
            <a:off x="6812280" y="4937760"/>
            <a:ext cx="466344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The conversion model shows moderate, usable signal</a:t>
            </a:r>
            <a:endParaRPr lang="en-US" sz="1250" dirty="0"/>
          </a:p>
        </p:txBody>
      </p:sp>
      <p:sp>
        <p:nvSpPr>
          <p:cNvPr id="29" name="Text 27"/>
          <p:cNvSpPr/>
          <p:nvPr/>
        </p:nvSpPr>
        <p:spPr>
          <a:xfrm>
            <a:off x="6583680" y="5266944"/>
            <a:ext cx="4892040" cy="777240"/>
          </a:xfrm>
          <a:prstGeom prst="rect">
            <a:avLst/>
          </a:prstGeom>
          <a:noFill/>
          <a:ln/>
        </p:spPr>
        <p:txBody>
          <a:bodyPr wrap="square" lIns="0" tIns="0" rIns="0" bIns="0" rtlCol="0" anchor="ctr"/>
          <a:lstStyle/>
          <a:p>
            <a:pPr marL="0" indent="0">
              <a:lnSpc>
                <a:spcPct val="118000"/>
              </a:lnSpc>
              <a:buNone/>
            </a:pPr>
            <a:r>
              <a:rPr lang="en-US" sz="1030" dirty="0">
                <a:solidFill>
                  <a:srgbClr val="5B6A82"/>
                </a:solidFill>
                <a:latin typeface="Calibri" pitchFamily="34" charset="0"/>
                <a:ea typeface="Calibri" pitchFamily="34" charset="-122"/>
                <a:cs typeface="Calibri" pitchFamily="34" charset="-120"/>
              </a:rPr>
              <a:t>ROC-AUC of 0.63 confirms device and channel are real predictors, but class imbalance limits it as a stand-alone classifier today.</a:t>
            </a:r>
            <a:endParaRPr lang="en-US" sz="1030" dirty="0"/>
          </a:p>
        </p:txBody>
      </p:sp>
      <p:sp>
        <p:nvSpPr>
          <p:cNvPr id="30" name="Text 28"/>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a:t>
            </a:r>
            <a:endParaRPr lang="en-US" sz="850" dirty="0"/>
          </a:p>
        </p:txBody>
      </p:sp>
      <p:sp>
        <p:nvSpPr>
          <p:cNvPr id="31" name="Text 29"/>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1897380" cy="292608"/>
          </a:xfrm>
          <a:prstGeom prst="roundRect">
            <a:avLst>
              <a:gd name="adj" fmla="val 25000"/>
            </a:avLst>
          </a:prstGeom>
          <a:solidFill>
            <a:srgbClr val="F2B134"/>
          </a:solidFill>
          <a:ln/>
        </p:spPr>
      </p:sp>
      <p:sp>
        <p:nvSpPr>
          <p:cNvPr id="3" name="Text 1"/>
          <p:cNvSpPr/>
          <p:nvPr/>
        </p:nvSpPr>
        <p:spPr>
          <a:xfrm>
            <a:off x="502920" y="384048"/>
            <a:ext cx="1897380"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RECOMMENDATIONS</a:t>
            </a:r>
            <a:endParaRPr lang="en-US" sz="1100" dirty="0"/>
          </a:p>
        </p:txBody>
      </p:sp>
      <p:sp>
        <p:nvSpPr>
          <p:cNvPr id="4" name="Text 2"/>
          <p:cNvSpPr/>
          <p:nvPr/>
        </p:nvSpPr>
        <p:spPr>
          <a:xfrm>
            <a:off x="457200" y="713232"/>
            <a:ext cx="112471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Business Recommendations</a:t>
            </a:r>
            <a:endParaRPr lang="en-US" sz="3000" dirty="0"/>
          </a:p>
        </p:txBody>
      </p:sp>
      <p:sp>
        <p:nvSpPr>
          <p:cNvPr id="5" name="Text 3"/>
          <p:cNvSpPr/>
          <p:nvPr/>
        </p:nvSpPr>
        <p:spPr>
          <a:xfrm>
            <a:off x="475488" y="1298448"/>
            <a:ext cx="11155680" cy="320040"/>
          </a:xfrm>
          <a:prstGeom prst="rect">
            <a:avLst/>
          </a:prstGeom>
          <a:noFill/>
          <a:ln/>
        </p:spPr>
        <p:txBody>
          <a:bodyPr wrap="square" lIns="0" tIns="0" rIns="0" bIns="0" rtlCol="0" anchor="ctr"/>
          <a:lstStyle/>
          <a:p>
            <a:pPr marL="0" indent="0">
              <a:buNone/>
            </a:pPr>
            <a:r>
              <a:rPr lang="en-US" sz="1300" i="1" dirty="0">
                <a:solidFill>
                  <a:srgbClr val="5B6A82"/>
                </a:solidFill>
                <a:latin typeface="Calibri" pitchFamily="34" charset="0"/>
                <a:ea typeface="Calibri" pitchFamily="34" charset="-122"/>
                <a:cs typeface="Calibri" pitchFamily="34" charset="-120"/>
              </a:rPr>
              <a:t>Prioritised, actionable next steps for the business</a:t>
            </a:r>
            <a:endParaRPr lang="en-US" sz="1300" dirty="0"/>
          </a:p>
        </p:txBody>
      </p:sp>
      <p:sp>
        <p:nvSpPr>
          <p:cNvPr id="6" name="Shape 4"/>
          <p:cNvSpPr/>
          <p:nvPr/>
        </p:nvSpPr>
        <p:spPr>
          <a:xfrm>
            <a:off x="548640" y="1874520"/>
            <a:ext cx="3502152" cy="2103120"/>
          </a:xfrm>
          <a:prstGeom prst="roundRect">
            <a:avLst>
              <a:gd name="adj" fmla="val 3913"/>
            </a:avLst>
          </a:prstGeom>
          <a:solidFill>
            <a:srgbClr val="FFFFFF"/>
          </a:solidFill>
          <a:ln w="12700">
            <a:solidFill>
              <a:srgbClr val="E1E6EF"/>
            </a:solidFill>
            <a:prstDash val="solid"/>
          </a:ln>
        </p:spPr>
      </p:sp>
      <p:sp>
        <p:nvSpPr>
          <p:cNvPr id="7" name="Shape 5"/>
          <p:cNvSpPr/>
          <p:nvPr/>
        </p:nvSpPr>
        <p:spPr>
          <a:xfrm>
            <a:off x="749808" y="2057400"/>
            <a:ext cx="457200" cy="457200"/>
          </a:xfrm>
          <a:prstGeom prst="ellipse">
            <a:avLst/>
          </a:prstGeom>
          <a:solidFill>
            <a:srgbClr val="C9891A"/>
          </a:solidFill>
          <a:ln/>
        </p:spPr>
      </p:sp>
      <p:sp>
        <p:nvSpPr>
          <p:cNvPr id="8" name="Text 6"/>
          <p:cNvSpPr/>
          <p:nvPr/>
        </p:nvSpPr>
        <p:spPr>
          <a:xfrm>
            <a:off x="749808" y="2057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749808" y="2587752"/>
            <a:ext cx="3099816" cy="457200"/>
          </a:xfrm>
          <a:prstGeom prst="rect">
            <a:avLst/>
          </a:prstGeom>
          <a:noFill/>
          <a:ln/>
        </p:spPr>
        <p:txBody>
          <a:bodyPr wrap="square" lIns="0" tIns="0" rIns="0" bIns="0" rtlCol="0" anchor="ctr"/>
          <a:lstStyle/>
          <a:p>
            <a:pPr marL="0" indent="0">
              <a:lnSpc>
                <a:spcPct val="105000"/>
              </a:lnSpc>
              <a:buNone/>
            </a:pPr>
            <a:r>
              <a:rPr lang="en-US" sz="1250" b="1" dirty="0">
                <a:solidFill>
                  <a:srgbClr val="0B1F3A"/>
                </a:solidFill>
                <a:latin typeface="Calibri" pitchFamily="34" charset="0"/>
                <a:ea typeface="Calibri" pitchFamily="34" charset="-122"/>
                <a:cs typeface="Calibri" pitchFamily="34" charset="-120"/>
              </a:rPr>
              <a:t>Fix the mobile experience</a:t>
            </a:r>
            <a:endParaRPr lang="en-US" sz="1250" dirty="0"/>
          </a:p>
        </p:txBody>
      </p:sp>
      <p:sp>
        <p:nvSpPr>
          <p:cNvPr id="10" name="Text 8"/>
          <p:cNvSpPr/>
          <p:nvPr/>
        </p:nvSpPr>
        <p:spPr>
          <a:xfrm>
            <a:off x="749808" y="3026664"/>
            <a:ext cx="3099816" cy="896112"/>
          </a:xfrm>
          <a:prstGeom prst="rect">
            <a:avLst/>
          </a:prstGeom>
          <a:noFill/>
          <a:ln/>
        </p:spPr>
        <p:txBody>
          <a:bodyPr wrap="square" lIns="0" tIns="0" rIns="0" bIns="0" rtlCol="0" anchor="ctr"/>
          <a:lstStyle/>
          <a:p>
            <a:pPr marL="0" indent="0">
              <a:lnSpc>
                <a:spcPct val="118000"/>
              </a:lnSpc>
              <a:buNone/>
            </a:pPr>
            <a:r>
              <a:rPr lang="en-US" sz="960" dirty="0">
                <a:solidFill>
                  <a:srgbClr val="5B6A82"/>
                </a:solidFill>
                <a:latin typeface="Calibri" pitchFamily="34" charset="0"/>
                <a:ea typeface="Calibri" pitchFamily="34" charset="-122"/>
                <a:cs typeface="Calibri" pitchFamily="34" charset="-120"/>
              </a:rPr>
              <a:t>Run a UX/checkout audit on mobile; closing even half the gap to desktop could add roughly $200–250K in annual revenue.</a:t>
            </a:r>
            <a:endParaRPr lang="en-US" sz="960" dirty="0"/>
          </a:p>
        </p:txBody>
      </p:sp>
      <p:sp>
        <p:nvSpPr>
          <p:cNvPr id="11" name="Shape 9"/>
          <p:cNvSpPr/>
          <p:nvPr/>
        </p:nvSpPr>
        <p:spPr>
          <a:xfrm>
            <a:off x="4233672" y="1874520"/>
            <a:ext cx="3502152" cy="2103120"/>
          </a:xfrm>
          <a:prstGeom prst="roundRect">
            <a:avLst>
              <a:gd name="adj" fmla="val 3913"/>
            </a:avLst>
          </a:prstGeom>
          <a:solidFill>
            <a:srgbClr val="FFFFFF"/>
          </a:solidFill>
          <a:ln w="12700">
            <a:solidFill>
              <a:srgbClr val="E1E6EF"/>
            </a:solidFill>
            <a:prstDash val="solid"/>
          </a:ln>
        </p:spPr>
      </p:sp>
      <p:sp>
        <p:nvSpPr>
          <p:cNvPr id="12" name="Shape 10"/>
          <p:cNvSpPr/>
          <p:nvPr/>
        </p:nvSpPr>
        <p:spPr>
          <a:xfrm>
            <a:off x="4434840" y="2057400"/>
            <a:ext cx="457200" cy="457200"/>
          </a:xfrm>
          <a:prstGeom prst="ellipse">
            <a:avLst/>
          </a:prstGeom>
          <a:solidFill>
            <a:srgbClr val="C9891A"/>
          </a:solidFill>
          <a:ln/>
        </p:spPr>
      </p:sp>
      <p:sp>
        <p:nvSpPr>
          <p:cNvPr id="13" name="Text 11"/>
          <p:cNvSpPr/>
          <p:nvPr/>
        </p:nvSpPr>
        <p:spPr>
          <a:xfrm>
            <a:off x="4434840" y="2057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4434840" y="2587752"/>
            <a:ext cx="3099816" cy="457200"/>
          </a:xfrm>
          <a:prstGeom prst="rect">
            <a:avLst/>
          </a:prstGeom>
          <a:noFill/>
          <a:ln/>
        </p:spPr>
        <p:txBody>
          <a:bodyPr wrap="square" lIns="0" tIns="0" rIns="0" bIns="0" rtlCol="0" anchor="ctr"/>
          <a:lstStyle/>
          <a:p>
            <a:pPr marL="0" indent="0">
              <a:lnSpc>
                <a:spcPct val="105000"/>
              </a:lnSpc>
              <a:buNone/>
            </a:pPr>
            <a:r>
              <a:rPr lang="en-US" sz="1250" b="1" dirty="0">
                <a:solidFill>
                  <a:srgbClr val="0B1F3A"/>
                </a:solidFill>
                <a:latin typeface="Calibri" pitchFamily="34" charset="0"/>
                <a:ea typeface="Calibri" pitchFamily="34" charset="-122"/>
                <a:cs typeface="Calibri" pitchFamily="34" charset="-120"/>
              </a:rPr>
              <a:t>Rebalance marketing spend on efficiency, not volume</a:t>
            </a:r>
            <a:endParaRPr lang="en-US" sz="1250" dirty="0"/>
          </a:p>
        </p:txBody>
      </p:sp>
      <p:sp>
        <p:nvSpPr>
          <p:cNvPr id="15" name="Text 13"/>
          <p:cNvSpPr/>
          <p:nvPr/>
        </p:nvSpPr>
        <p:spPr>
          <a:xfrm>
            <a:off x="4434840" y="3026664"/>
            <a:ext cx="3099816" cy="896112"/>
          </a:xfrm>
          <a:prstGeom prst="rect">
            <a:avLst/>
          </a:prstGeom>
          <a:noFill/>
          <a:ln/>
        </p:spPr>
        <p:txBody>
          <a:bodyPr wrap="square" lIns="0" tIns="0" rIns="0" bIns="0" rtlCol="0" anchor="ctr"/>
          <a:lstStyle/>
          <a:p>
            <a:pPr marL="0" indent="0">
              <a:lnSpc>
                <a:spcPct val="118000"/>
              </a:lnSpc>
              <a:buNone/>
            </a:pPr>
            <a:r>
              <a:rPr lang="en-US" sz="960" dirty="0">
                <a:solidFill>
                  <a:srgbClr val="5B6A82"/>
                </a:solidFill>
                <a:latin typeface="Calibri" pitchFamily="34" charset="0"/>
                <a:ea typeface="Calibri" pitchFamily="34" charset="-122"/>
                <a:cs typeface="Calibri" pitchFamily="34" charset="-120"/>
              </a:rPr>
              <a:t>Shift incremental budget toward channels with strong revenue-per-session (direct/organic, bsearch) and re-evaluate socialbook creative/targeting.</a:t>
            </a:r>
            <a:endParaRPr lang="en-US" sz="960" dirty="0"/>
          </a:p>
        </p:txBody>
      </p:sp>
      <p:sp>
        <p:nvSpPr>
          <p:cNvPr id="16" name="Shape 14"/>
          <p:cNvSpPr/>
          <p:nvPr/>
        </p:nvSpPr>
        <p:spPr>
          <a:xfrm>
            <a:off x="7918704" y="1874520"/>
            <a:ext cx="3502152" cy="2103120"/>
          </a:xfrm>
          <a:prstGeom prst="roundRect">
            <a:avLst>
              <a:gd name="adj" fmla="val 3913"/>
            </a:avLst>
          </a:prstGeom>
          <a:solidFill>
            <a:srgbClr val="FFFFFF"/>
          </a:solidFill>
          <a:ln w="12700">
            <a:solidFill>
              <a:srgbClr val="E1E6EF"/>
            </a:solidFill>
            <a:prstDash val="solid"/>
          </a:ln>
        </p:spPr>
      </p:sp>
      <p:sp>
        <p:nvSpPr>
          <p:cNvPr id="17" name="Shape 15"/>
          <p:cNvSpPr/>
          <p:nvPr/>
        </p:nvSpPr>
        <p:spPr>
          <a:xfrm>
            <a:off x="8119872" y="2057400"/>
            <a:ext cx="457200" cy="457200"/>
          </a:xfrm>
          <a:prstGeom prst="ellipse">
            <a:avLst/>
          </a:prstGeom>
          <a:solidFill>
            <a:srgbClr val="C9891A"/>
          </a:solidFill>
          <a:ln/>
        </p:spPr>
      </p:sp>
      <p:sp>
        <p:nvSpPr>
          <p:cNvPr id="18" name="Text 16"/>
          <p:cNvSpPr/>
          <p:nvPr/>
        </p:nvSpPr>
        <p:spPr>
          <a:xfrm>
            <a:off x="8119872" y="2057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8119872" y="2587752"/>
            <a:ext cx="3099816" cy="457200"/>
          </a:xfrm>
          <a:prstGeom prst="rect">
            <a:avLst/>
          </a:prstGeom>
          <a:noFill/>
          <a:ln/>
        </p:spPr>
        <p:txBody>
          <a:bodyPr wrap="square" lIns="0" tIns="0" rIns="0" bIns="0" rtlCol="0" anchor="ctr"/>
          <a:lstStyle/>
          <a:p>
            <a:pPr marL="0" indent="0">
              <a:lnSpc>
                <a:spcPct val="105000"/>
              </a:lnSpc>
              <a:buNone/>
            </a:pPr>
            <a:r>
              <a:rPr lang="en-US" sz="1250" b="1" dirty="0">
                <a:solidFill>
                  <a:srgbClr val="0B1F3A"/>
                </a:solidFill>
                <a:latin typeface="Calibri" pitchFamily="34" charset="0"/>
                <a:ea typeface="Calibri" pitchFamily="34" charset="-122"/>
                <a:cs typeface="Calibri" pitchFamily="34" charset="-120"/>
              </a:rPr>
              <a:t>Protect the flagship product's margin &amp; quality</a:t>
            </a:r>
            <a:endParaRPr lang="en-US" sz="1250" dirty="0"/>
          </a:p>
        </p:txBody>
      </p:sp>
      <p:sp>
        <p:nvSpPr>
          <p:cNvPr id="20" name="Text 18"/>
          <p:cNvSpPr/>
          <p:nvPr/>
        </p:nvSpPr>
        <p:spPr>
          <a:xfrm>
            <a:off x="8119872" y="3026664"/>
            <a:ext cx="3099816" cy="896112"/>
          </a:xfrm>
          <a:prstGeom prst="rect">
            <a:avLst/>
          </a:prstGeom>
          <a:noFill/>
          <a:ln/>
        </p:spPr>
        <p:txBody>
          <a:bodyPr wrap="square" lIns="0" tIns="0" rIns="0" bIns="0" rtlCol="0" anchor="ctr"/>
          <a:lstStyle/>
          <a:p>
            <a:pPr marL="0" indent="0">
              <a:lnSpc>
                <a:spcPct val="118000"/>
              </a:lnSpc>
              <a:buNone/>
            </a:pPr>
            <a:r>
              <a:rPr lang="en-US" sz="960" dirty="0">
                <a:solidFill>
                  <a:srgbClr val="5B6A82"/>
                </a:solidFill>
                <a:latin typeface="Calibri" pitchFamily="34" charset="0"/>
                <a:ea typeface="Calibri" pitchFamily="34" charset="-122"/>
                <a:cs typeface="Calibri" pitchFamily="34" charset="-120"/>
              </a:rPr>
              <a:t>Investigate root causes of Mr. Fuzzy's refund volume (72% of all refund dollars) – quality control, sizing/description accuracy, or packaging.</a:t>
            </a:r>
            <a:endParaRPr lang="en-US" sz="960" dirty="0"/>
          </a:p>
        </p:txBody>
      </p:sp>
      <p:sp>
        <p:nvSpPr>
          <p:cNvPr id="21" name="Shape 19"/>
          <p:cNvSpPr/>
          <p:nvPr/>
        </p:nvSpPr>
        <p:spPr>
          <a:xfrm>
            <a:off x="548640" y="4160520"/>
            <a:ext cx="3502152" cy="2103120"/>
          </a:xfrm>
          <a:prstGeom prst="roundRect">
            <a:avLst>
              <a:gd name="adj" fmla="val 3913"/>
            </a:avLst>
          </a:prstGeom>
          <a:solidFill>
            <a:srgbClr val="FFFFFF"/>
          </a:solidFill>
          <a:ln w="12700">
            <a:solidFill>
              <a:srgbClr val="E1E6EF"/>
            </a:solidFill>
            <a:prstDash val="solid"/>
          </a:ln>
        </p:spPr>
      </p:sp>
      <p:sp>
        <p:nvSpPr>
          <p:cNvPr id="22" name="Shape 20"/>
          <p:cNvSpPr/>
          <p:nvPr/>
        </p:nvSpPr>
        <p:spPr>
          <a:xfrm>
            <a:off x="749808" y="4343400"/>
            <a:ext cx="457200" cy="457200"/>
          </a:xfrm>
          <a:prstGeom prst="ellipse">
            <a:avLst/>
          </a:prstGeom>
          <a:solidFill>
            <a:srgbClr val="C9891A"/>
          </a:solidFill>
          <a:ln/>
        </p:spPr>
      </p:sp>
      <p:sp>
        <p:nvSpPr>
          <p:cNvPr id="23" name="Text 21"/>
          <p:cNvSpPr/>
          <p:nvPr/>
        </p:nvSpPr>
        <p:spPr>
          <a:xfrm>
            <a:off x="749808" y="4343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749808" y="4873752"/>
            <a:ext cx="3099816" cy="457200"/>
          </a:xfrm>
          <a:prstGeom prst="rect">
            <a:avLst/>
          </a:prstGeom>
          <a:noFill/>
          <a:ln/>
        </p:spPr>
        <p:txBody>
          <a:bodyPr wrap="square" lIns="0" tIns="0" rIns="0" bIns="0" rtlCol="0" anchor="ctr"/>
          <a:lstStyle/>
          <a:p>
            <a:pPr marL="0" indent="0">
              <a:lnSpc>
                <a:spcPct val="105000"/>
              </a:lnSpc>
              <a:buNone/>
            </a:pPr>
            <a:r>
              <a:rPr lang="en-US" sz="1250" b="1" dirty="0">
                <a:solidFill>
                  <a:srgbClr val="0B1F3A"/>
                </a:solidFill>
                <a:latin typeface="Calibri" pitchFamily="34" charset="0"/>
                <a:ea typeface="Calibri" pitchFamily="34" charset="-122"/>
                <a:cs typeface="Calibri" pitchFamily="34" charset="-120"/>
              </a:rPr>
              <a:t>Review high-margin, high-refund products</a:t>
            </a:r>
            <a:endParaRPr lang="en-US" sz="1250" dirty="0"/>
          </a:p>
        </p:txBody>
      </p:sp>
      <p:sp>
        <p:nvSpPr>
          <p:cNvPr id="25" name="Text 23"/>
          <p:cNvSpPr/>
          <p:nvPr/>
        </p:nvSpPr>
        <p:spPr>
          <a:xfrm>
            <a:off x="749808" y="5312664"/>
            <a:ext cx="3099816" cy="896112"/>
          </a:xfrm>
          <a:prstGeom prst="rect">
            <a:avLst/>
          </a:prstGeom>
          <a:noFill/>
          <a:ln/>
        </p:spPr>
        <p:txBody>
          <a:bodyPr wrap="square" lIns="0" tIns="0" rIns="0" bIns="0" rtlCol="0" anchor="ctr"/>
          <a:lstStyle/>
          <a:p>
            <a:pPr marL="0" indent="0">
              <a:lnSpc>
                <a:spcPct val="118000"/>
              </a:lnSpc>
              <a:buNone/>
            </a:pPr>
            <a:r>
              <a:rPr lang="en-US" sz="960" dirty="0">
                <a:solidFill>
                  <a:srgbClr val="5B6A82"/>
                </a:solidFill>
                <a:latin typeface="Calibri" pitchFamily="34" charset="0"/>
                <a:ea typeface="Calibri" pitchFamily="34" charset="-122"/>
                <a:cs typeface="Calibri" pitchFamily="34" charset="-120"/>
              </a:rPr>
              <a:t>Audit Birthday Sugar Panda for expectation-setting or quality issues before scaling marketing spend behind its strong margin.</a:t>
            </a:r>
            <a:endParaRPr lang="en-US" sz="960" dirty="0"/>
          </a:p>
        </p:txBody>
      </p:sp>
      <p:sp>
        <p:nvSpPr>
          <p:cNvPr id="26" name="Shape 24"/>
          <p:cNvSpPr/>
          <p:nvPr/>
        </p:nvSpPr>
        <p:spPr>
          <a:xfrm>
            <a:off x="4233672" y="4160520"/>
            <a:ext cx="3502152" cy="2103120"/>
          </a:xfrm>
          <a:prstGeom prst="roundRect">
            <a:avLst>
              <a:gd name="adj" fmla="val 3913"/>
            </a:avLst>
          </a:prstGeom>
          <a:solidFill>
            <a:srgbClr val="FFFFFF"/>
          </a:solidFill>
          <a:ln w="12700">
            <a:solidFill>
              <a:srgbClr val="E1E6EF"/>
            </a:solidFill>
            <a:prstDash val="solid"/>
          </a:ln>
        </p:spPr>
      </p:sp>
      <p:sp>
        <p:nvSpPr>
          <p:cNvPr id="27" name="Shape 25"/>
          <p:cNvSpPr/>
          <p:nvPr/>
        </p:nvSpPr>
        <p:spPr>
          <a:xfrm>
            <a:off x="4434840" y="4343400"/>
            <a:ext cx="457200" cy="457200"/>
          </a:xfrm>
          <a:prstGeom prst="ellipse">
            <a:avLst/>
          </a:prstGeom>
          <a:solidFill>
            <a:srgbClr val="C9891A"/>
          </a:solidFill>
          <a:ln/>
        </p:spPr>
      </p:sp>
      <p:sp>
        <p:nvSpPr>
          <p:cNvPr id="28" name="Text 26"/>
          <p:cNvSpPr/>
          <p:nvPr/>
        </p:nvSpPr>
        <p:spPr>
          <a:xfrm>
            <a:off x="4434840" y="4343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4434840" y="4873752"/>
            <a:ext cx="3099816" cy="457200"/>
          </a:xfrm>
          <a:prstGeom prst="rect">
            <a:avLst/>
          </a:prstGeom>
          <a:noFill/>
          <a:ln/>
        </p:spPr>
        <p:txBody>
          <a:bodyPr wrap="square" lIns="0" tIns="0" rIns="0" bIns="0" rtlCol="0" anchor="ctr"/>
          <a:lstStyle/>
          <a:p>
            <a:pPr marL="0" indent="0">
              <a:lnSpc>
                <a:spcPct val="105000"/>
              </a:lnSpc>
              <a:buNone/>
            </a:pPr>
            <a:r>
              <a:rPr lang="en-US" sz="1250" b="1" dirty="0">
                <a:solidFill>
                  <a:srgbClr val="0B1F3A"/>
                </a:solidFill>
                <a:latin typeface="Calibri" pitchFamily="34" charset="0"/>
                <a:ea typeface="Calibri" pitchFamily="34" charset="-122"/>
                <a:cs typeface="Calibri" pitchFamily="34" charset="-120"/>
              </a:rPr>
              <a:t>Invest in retention &amp; remarketing</a:t>
            </a:r>
            <a:endParaRPr lang="en-US" sz="1250" dirty="0"/>
          </a:p>
        </p:txBody>
      </p:sp>
      <p:sp>
        <p:nvSpPr>
          <p:cNvPr id="30" name="Text 28"/>
          <p:cNvSpPr/>
          <p:nvPr/>
        </p:nvSpPr>
        <p:spPr>
          <a:xfrm>
            <a:off x="4434840" y="5312664"/>
            <a:ext cx="3099816" cy="896112"/>
          </a:xfrm>
          <a:prstGeom prst="rect">
            <a:avLst/>
          </a:prstGeom>
          <a:noFill/>
          <a:ln/>
        </p:spPr>
        <p:txBody>
          <a:bodyPr wrap="square" lIns="0" tIns="0" rIns="0" bIns="0" rtlCol="0" anchor="ctr"/>
          <a:lstStyle/>
          <a:p>
            <a:pPr marL="0" indent="0">
              <a:lnSpc>
                <a:spcPct val="118000"/>
              </a:lnSpc>
              <a:buNone/>
            </a:pPr>
            <a:r>
              <a:rPr lang="en-US" sz="960" dirty="0">
                <a:solidFill>
                  <a:srgbClr val="5B6A82"/>
                </a:solidFill>
                <a:latin typeface="Calibri" pitchFamily="34" charset="0"/>
                <a:ea typeface="Calibri" pitchFamily="34" charset="-122"/>
                <a:cs typeface="Calibri" pitchFamily="34" charset="-120"/>
              </a:rPr>
              <a:t>Repeat sessions convert better and are still a small share of traffic – email/remarketing to past visitors is a high-ROI lever.</a:t>
            </a:r>
            <a:endParaRPr lang="en-US" sz="960" dirty="0"/>
          </a:p>
        </p:txBody>
      </p:sp>
      <p:sp>
        <p:nvSpPr>
          <p:cNvPr id="31" name="Shape 29"/>
          <p:cNvSpPr/>
          <p:nvPr/>
        </p:nvSpPr>
        <p:spPr>
          <a:xfrm>
            <a:off x="7918704" y="4160520"/>
            <a:ext cx="3502152" cy="2103120"/>
          </a:xfrm>
          <a:prstGeom prst="roundRect">
            <a:avLst>
              <a:gd name="adj" fmla="val 3913"/>
            </a:avLst>
          </a:prstGeom>
          <a:solidFill>
            <a:srgbClr val="FFFFFF"/>
          </a:solidFill>
          <a:ln w="12700">
            <a:solidFill>
              <a:srgbClr val="E1E6EF"/>
            </a:solidFill>
            <a:prstDash val="solid"/>
          </a:ln>
        </p:spPr>
      </p:sp>
      <p:sp>
        <p:nvSpPr>
          <p:cNvPr id="32" name="Shape 30"/>
          <p:cNvSpPr/>
          <p:nvPr/>
        </p:nvSpPr>
        <p:spPr>
          <a:xfrm>
            <a:off x="8119872" y="4343400"/>
            <a:ext cx="457200" cy="457200"/>
          </a:xfrm>
          <a:prstGeom prst="ellipse">
            <a:avLst/>
          </a:prstGeom>
          <a:solidFill>
            <a:srgbClr val="C9891A"/>
          </a:solidFill>
          <a:ln/>
        </p:spPr>
      </p:sp>
      <p:sp>
        <p:nvSpPr>
          <p:cNvPr id="33" name="Text 31"/>
          <p:cNvSpPr/>
          <p:nvPr/>
        </p:nvSpPr>
        <p:spPr>
          <a:xfrm>
            <a:off x="8119872" y="43434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4" name="Text 32"/>
          <p:cNvSpPr/>
          <p:nvPr/>
        </p:nvSpPr>
        <p:spPr>
          <a:xfrm>
            <a:off x="8119872" y="4873752"/>
            <a:ext cx="3099816" cy="457200"/>
          </a:xfrm>
          <a:prstGeom prst="rect">
            <a:avLst/>
          </a:prstGeom>
          <a:noFill/>
          <a:ln/>
        </p:spPr>
        <p:txBody>
          <a:bodyPr wrap="square" lIns="0" tIns="0" rIns="0" bIns="0" rtlCol="0" anchor="ctr"/>
          <a:lstStyle/>
          <a:p>
            <a:pPr marL="0" indent="0">
              <a:lnSpc>
                <a:spcPct val="105000"/>
              </a:lnSpc>
              <a:buNone/>
            </a:pPr>
            <a:r>
              <a:rPr lang="en-US" sz="1250" b="1" dirty="0">
                <a:solidFill>
                  <a:srgbClr val="0B1F3A"/>
                </a:solidFill>
                <a:latin typeface="Calibri" pitchFamily="34" charset="0"/>
                <a:ea typeface="Calibri" pitchFamily="34" charset="-122"/>
                <a:cs typeface="Calibri" pitchFamily="34" charset="-120"/>
              </a:rPr>
              <a:t>Mature the predictive model before deployment</a:t>
            </a:r>
            <a:endParaRPr lang="en-US" sz="1250" dirty="0"/>
          </a:p>
        </p:txBody>
      </p:sp>
      <p:sp>
        <p:nvSpPr>
          <p:cNvPr id="35" name="Text 33"/>
          <p:cNvSpPr/>
          <p:nvPr/>
        </p:nvSpPr>
        <p:spPr>
          <a:xfrm>
            <a:off x="8119872" y="5312664"/>
            <a:ext cx="3099816" cy="896112"/>
          </a:xfrm>
          <a:prstGeom prst="rect">
            <a:avLst/>
          </a:prstGeom>
          <a:noFill/>
          <a:ln/>
        </p:spPr>
        <p:txBody>
          <a:bodyPr wrap="square" lIns="0" tIns="0" rIns="0" bIns="0" rtlCol="0" anchor="ctr"/>
          <a:lstStyle/>
          <a:p>
            <a:pPr marL="0" indent="0">
              <a:lnSpc>
                <a:spcPct val="118000"/>
              </a:lnSpc>
              <a:buNone/>
            </a:pPr>
            <a:r>
              <a:rPr lang="en-US" sz="960" dirty="0">
                <a:solidFill>
                  <a:srgbClr val="5B6A82"/>
                </a:solidFill>
                <a:latin typeface="Calibri" pitchFamily="34" charset="0"/>
                <a:ea typeface="Calibri" pitchFamily="34" charset="-122"/>
                <a:cs typeface="Calibri" pitchFamily="34" charset="-120"/>
              </a:rPr>
              <a:t>Address class imbalance and tune the decision threshold; use it first as a session-scoring / prioritisation tool, not a hard gate.</a:t>
            </a:r>
            <a:endParaRPr lang="en-US" sz="960" dirty="0"/>
          </a:p>
        </p:txBody>
      </p:sp>
      <p:sp>
        <p:nvSpPr>
          <p:cNvPr id="36" name="Text 34"/>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5B6A82"/>
                </a:solidFill>
                <a:latin typeface="Calibri" pitchFamily="34" charset="0"/>
                <a:ea typeface="Calibri" pitchFamily="34" charset="-122"/>
                <a:cs typeface="Calibri" pitchFamily="34" charset="-120"/>
              </a:rPr>
              <a:t>PRP E-COMMERCE DIGITAL ANALYTICS  </a:t>
            </a:r>
            <a:endParaRPr lang="en-US" sz="850" dirty="0"/>
          </a:p>
        </p:txBody>
      </p:sp>
      <p:sp>
        <p:nvSpPr>
          <p:cNvPr id="37" name="Text 35"/>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5B6A82"/>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502920" y="502920"/>
            <a:ext cx="1417320" cy="292608"/>
          </a:xfrm>
          <a:prstGeom prst="roundRect">
            <a:avLst>
              <a:gd name="adj" fmla="val 25000"/>
            </a:avLst>
          </a:prstGeom>
          <a:solidFill>
            <a:srgbClr val="F2B134"/>
          </a:solidFill>
          <a:ln/>
        </p:spPr>
      </p:sp>
      <p:sp>
        <p:nvSpPr>
          <p:cNvPr id="3" name="Text 1"/>
          <p:cNvSpPr/>
          <p:nvPr/>
        </p:nvSpPr>
        <p:spPr>
          <a:xfrm>
            <a:off x="502920" y="502920"/>
            <a:ext cx="1417320" cy="292608"/>
          </a:xfrm>
          <a:prstGeom prst="rect">
            <a:avLst/>
          </a:prstGeom>
          <a:noFill/>
          <a:ln/>
        </p:spPr>
        <p:txBody>
          <a:bodyPr wrap="square" rtlCol="0" anchor="ctr"/>
          <a:lstStyle/>
          <a:p>
            <a:pPr marL="0" indent="0" algn="ctr">
              <a:buNone/>
            </a:pPr>
            <a:r>
              <a:rPr lang="en-US" sz="1100" b="1" kern="0" spc="100" dirty="0">
                <a:solidFill>
                  <a:srgbClr val="0B1F3A"/>
                </a:solidFill>
                <a:latin typeface="Calibri" pitchFamily="34" charset="0"/>
                <a:ea typeface="Calibri" pitchFamily="34" charset="-122"/>
                <a:cs typeface="Calibri" pitchFamily="34" charset="-120"/>
              </a:rPr>
              <a:t>CONCLUSION</a:t>
            </a:r>
            <a:endParaRPr lang="en-US" sz="1100" dirty="0"/>
          </a:p>
        </p:txBody>
      </p:sp>
      <p:sp>
        <p:nvSpPr>
          <p:cNvPr id="4" name="Text 2"/>
          <p:cNvSpPr/>
          <p:nvPr/>
        </p:nvSpPr>
        <p:spPr>
          <a:xfrm>
            <a:off x="502920" y="960120"/>
            <a:ext cx="10515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 &amp; Learnings</a:t>
            </a:r>
            <a:endParaRPr lang="en-US" sz="3200" dirty="0"/>
          </a:p>
        </p:txBody>
      </p:sp>
      <p:sp>
        <p:nvSpPr>
          <p:cNvPr id="5" name="Shape 3"/>
          <p:cNvSpPr/>
          <p:nvPr/>
        </p:nvSpPr>
        <p:spPr>
          <a:xfrm>
            <a:off x="548640" y="1828800"/>
            <a:ext cx="5394960" cy="4297680"/>
          </a:xfrm>
          <a:prstGeom prst="roundRect">
            <a:avLst>
              <a:gd name="adj" fmla="val 1915"/>
            </a:avLst>
          </a:prstGeom>
          <a:solidFill>
            <a:srgbClr val="132A4C"/>
          </a:solidFill>
          <a:ln w="12700">
            <a:solidFill>
              <a:srgbClr val="24406B"/>
            </a:solidFill>
            <a:prstDash val="solid"/>
          </a:ln>
        </p:spPr>
      </p:sp>
      <p:sp>
        <p:nvSpPr>
          <p:cNvPr id="6" name="Text 4"/>
          <p:cNvSpPr/>
          <p:nvPr/>
        </p:nvSpPr>
        <p:spPr>
          <a:xfrm>
            <a:off x="822960" y="2029968"/>
            <a:ext cx="4846320" cy="320040"/>
          </a:xfrm>
          <a:prstGeom prst="rect">
            <a:avLst/>
          </a:prstGeom>
          <a:noFill/>
          <a:ln/>
        </p:spPr>
        <p:txBody>
          <a:bodyPr wrap="square" lIns="0" tIns="0" rIns="0" bIns="0" rtlCol="0" anchor="ctr"/>
          <a:lstStyle/>
          <a:p>
            <a:pPr marL="0" indent="0">
              <a:buNone/>
            </a:pPr>
            <a:r>
              <a:rPr lang="en-US" sz="1450" b="1" dirty="0">
                <a:solidFill>
                  <a:srgbClr val="F2B134"/>
                </a:solidFill>
                <a:latin typeface="Calibri" pitchFamily="34" charset="0"/>
                <a:ea typeface="Calibri" pitchFamily="34" charset="-122"/>
                <a:cs typeface="Calibri" pitchFamily="34" charset="-120"/>
              </a:rPr>
              <a:t>What This Project Delivered</a:t>
            </a:r>
            <a:endParaRPr lang="en-US" sz="1450" dirty="0"/>
          </a:p>
        </p:txBody>
      </p:sp>
      <p:sp>
        <p:nvSpPr>
          <p:cNvPr id="7" name="Text 5"/>
          <p:cNvSpPr/>
          <p:nvPr/>
        </p:nvSpPr>
        <p:spPr>
          <a:xfrm>
            <a:off x="822960" y="2423160"/>
            <a:ext cx="4892040" cy="3566160"/>
          </a:xfrm>
          <a:prstGeom prst="rect">
            <a:avLst/>
          </a:prstGeom>
          <a:noFill/>
          <a:ln/>
        </p:spPr>
        <p:txBody>
          <a:bodyPr wrap="square" lIns="0" tIns="0" rIns="0" bIns="0" rtlCol="0" anchor="ctr"/>
          <a:lstStyle/>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An end-to-end pipeline: SQL Server → Python → Power BI, built on validated, reproducible clean views</a:t>
            </a:r>
            <a:endParaRPr lang="en-US" sz="1180" dirty="0"/>
          </a:p>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Descriptive &amp; diagnostic analysis covering sales, marketing, device, product and refund performance</a:t>
            </a:r>
            <a:endParaRPr lang="en-US" sz="1180" dirty="0"/>
          </a:p>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A working, interpretable logistic regression model for session conversion, with honest evaluation</a:t>
            </a:r>
            <a:endParaRPr lang="en-US" sz="1180" dirty="0"/>
          </a:p>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Prioritised, data-backed recommendations leadership can act on immediately</a:t>
            </a:r>
            <a:endParaRPr lang="en-US" sz="1180" dirty="0"/>
          </a:p>
        </p:txBody>
      </p:sp>
      <p:sp>
        <p:nvSpPr>
          <p:cNvPr id="8" name="Shape 6"/>
          <p:cNvSpPr/>
          <p:nvPr/>
        </p:nvSpPr>
        <p:spPr>
          <a:xfrm>
            <a:off x="6217920" y="1828800"/>
            <a:ext cx="5422392" cy="4297680"/>
          </a:xfrm>
          <a:prstGeom prst="roundRect">
            <a:avLst>
              <a:gd name="adj" fmla="val 1915"/>
            </a:avLst>
          </a:prstGeom>
          <a:solidFill>
            <a:srgbClr val="132A4C"/>
          </a:solidFill>
          <a:ln w="12700">
            <a:solidFill>
              <a:srgbClr val="24406B"/>
            </a:solidFill>
            <a:prstDash val="solid"/>
          </a:ln>
        </p:spPr>
        <p:txBody>
          <a:bodyPr/>
          <a:lstStyle/>
          <a:p>
            <a:endParaRPr lang="en-IN" dirty="0"/>
          </a:p>
        </p:txBody>
      </p:sp>
      <p:sp>
        <p:nvSpPr>
          <p:cNvPr id="9" name="Text 7"/>
          <p:cNvSpPr/>
          <p:nvPr/>
        </p:nvSpPr>
        <p:spPr>
          <a:xfrm>
            <a:off x="6492240" y="2029968"/>
            <a:ext cx="4846320" cy="320040"/>
          </a:xfrm>
          <a:prstGeom prst="rect">
            <a:avLst/>
          </a:prstGeom>
          <a:noFill/>
          <a:ln/>
        </p:spPr>
        <p:txBody>
          <a:bodyPr wrap="square" lIns="0" tIns="0" rIns="0" bIns="0" rtlCol="0" anchor="ctr"/>
          <a:lstStyle/>
          <a:p>
            <a:pPr marL="0" indent="0">
              <a:buNone/>
            </a:pPr>
            <a:r>
              <a:rPr lang="en-US" sz="1450" b="1" dirty="0">
                <a:solidFill>
                  <a:srgbClr val="F2B134"/>
                </a:solidFill>
                <a:latin typeface="Calibri" pitchFamily="34" charset="0"/>
                <a:ea typeface="Calibri" pitchFamily="34" charset="-122"/>
                <a:cs typeface="Calibri" pitchFamily="34" charset="-120"/>
              </a:rPr>
              <a:t>Learnings &amp; Next Steps</a:t>
            </a:r>
            <a:endParaRPr lang="en-US" sz="1450" dirty="0"/>
          </a:p>
        </p:txBody>
      </p:sp>
      <p:sp>
        <p:nvSpPr>
          <p:cNvPr id="10" name="Text 8"/>
          <p:cNvSpPr/>
          <p:nvPr/>
        </p:nvSpPr>
        <p:spPr>
          <a:xfrm>
            <a:off x="6492240" y="2423160"/>
            <a:ext cx="4937760" cy="3566160"/>
          </a:xfrm>
          <a:prstGeom prst="rect">
            <a:avLst/>
          </a:prstGeom>
          <a:noFill/>
          <a:ln/>
        </p:spPr>
        <p:txBody>
          <a:bodyPr wrap="square" lIns="0" tIns="0" rIns="0" bIns="0" rtlCol="0" anchor="ctr"/>
          <a:lstStyle/>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Clean, well-documented SQL views made every downstream tool (Python, Power BI) trustworthy and fast to build on</a:t>
            </a:r>
            <a:endParaRPr lang="en-US" sz="1180" dirty="0"/>
          </a:p>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Descriptive dashboards surfaced the mobile conversion gap before any modelling was needed – diagnostics matter as much as ML</a:t>
            </a:r>
            <a:endParaRPr lang="en-US" sz="1180" dirty="0"/>
          </a:p>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Class imbalance is a real constraint on this dataset; the next iteration should test class weighting, resampling and alternative models</a:t>
            </a:r>
            <a:endParaRPr lang="en-US" sz="1180" dirty="0"/>
          </a:p>
          <a:p>
            <a:pPr marL="342900" indent="-342900">
              <a:lnSpc>
                <a:spcPct val="122000"/>
              </a:lnSpc>
              <a:spcAft>
                <a:spcPts val="1400"/>
              </a:spcAft>
              <a:buSzPct val="100000"/>
              <a:buChar char="➤"/>
            </a:pPr>
            <a:r>
              <a:rPr lang="en-US" sz="1180" dirty="0">
                <a:solidFill>
                  <a:srgbClr val="E6ECF7"/>
                </a:solidFill>
                <a:latin typeface="Calibri" pitchFamily="34" charset="0"/>
                <a:ea typeface="Calibri" pitchFamily="34" charset="-122"/>
                <a:cs typeface="Calibri" pitchFamily="34" charset="-120"/>
              </a:rPr>
              <a:t>Next steps: monitor conversion performance, improve model evaluation, and re-run this analysis on newer data periodically</a:t>
            </a:r>
            <a:endParaRPr lang="en-US" sz="1180" dirty="0"/>
          </a:p>
        </p:txBody>
      </p:sp>
      <p:sp>
        <p:nvSpPr>
          <p:cNvPr id="11" name="Text 9"/>
          <p:cNvSpPr/>
          <p:nvPr/>
        </p:nvSpPr>
        <p:spPr>
          <a:xfrm>
            <a:off x="457200" y="6492240"/>
            <a:ext cx="7315200" cy="274320"/>
          </a:xfrm>
          <a:prstGeom prst="rect">
            <a:avLst/>
          </a:prstGeom>
          <a:noFill/>
          <a:ln/>
        </p:spPr>
        <p:txBody>
          <a:bodyPr wrap="square" rtlCol="0" anchor="ctr"/>
          <a:lstStyle/>
          <a:p>
            <a:pPr marL="0" indent="0" algn="l">
              <a:buNone/>
            </a:pPr>
            <a:r>
              <a:rPr lang="en-US" sz="850" dirty="0">
                <a:solidFill>
                  <a:srgbClr val="8CA0BE"/>
                </a:solidFill>
                <a:latin typeface="Calibri" pitchFamily="34" charset="0"/>
                <a:ea typeface="Calibri" pitchFamily="34" charset="-122"/>
                <a:cs typeface="Calibri" pitchFamily="34" charset="-120"/>
              </a:rPr>
              <a:t>PRP E-COMMERCE DIGITAL ANALYTICS  </a:t>
            </a:r>
            <a:endParaRPr lang="en-US" sz="850" dirty="0"/>
          </a:p>
        </p:txBody>
      </p:sp>
      <p:sp>
        <p:nvSpPr>
          <p:cNvPr id="12" name="Text 10"/>
          <p:cNvSpPr/>
          <p:nvPr/>
        </p:nvSpPr>
        <p:spPr>
          <a:xfrm>
            <a:off x="11274552" y="6492240"/>
            <a:ext cx="457200" cy="274320"/>
          </a:xfrm>
          <a:prstGeom prst="rect">
            <a:avLst/>
          </a:prstGeom>
          <a:noFill/>
          <a:ln/>
        </p:spPr>
        <p:txBody>
          <a:bodyPr wrap="square" rtlCol="0" anchor="ctr"/>
          <a:lstStyle/>
          <a:p>
            <a:pPr marL="0" indent="0" algn="r">
              <a:buNone/>
            </a:pPr>
            <a:r>
              <a:rPr lang="en-US" sz="850" dirty="0">
                <a:solidFill>
                  <a:srgbClr val="8CA0BE"/>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280160" y="-1463040"/>
            <a:ext cx="4206240" cy="4206240"/>
          </a:xfrm>
          <a:prstGeom prst="ellipse">
            <a:avLst/>
          </a:prstGeom>
          <a:solidFill>
            <a:srgbClr val="132A4C"/>
          </a:solidFill>
          <a:ln/>
        </p:spPr>
      </p:sp>
      <p:sp>
        <p:nvSpPr>
          <p:cNvPr id="3" name="Shape 1"/>
          <p:cNvSpPr/>
          <p:nvPr/>
        </p:nvSpPr>
        <p:spPr>
          <a:xfrm>
            <a:off x="10607040" y="4572000"/>
            <a:ext cx="3291840" cy="3291840"/>
          </a:xfrm>
          <a:prstGeom prst="ellipse">
            <a:avLst/>
          </a:prstGeom>
          <a:solidFill>
            <a:srgbClr val="132A4C"/>
          </a:solidFill>
          <a:ln/>
        </p:spPr>
      </p:sp>
      <p:sp>
        <p:nvSpPr>
          <p:cNvPr id="4" name="Shape 2"/>
          <p:cNvSpPr/>
          <p:nvPr/>
        </p:nvSpPr>
        <p:spPr>
          <a:xfrm>
            <a:off x="5088636" y="2148840"/>
            <a:ext cx="2011680" cy="365760"/>
          </a:xfrm>
          <a:prstGeom prst="roundRect">
            <a:avLst>
              <a:gd name="adj" fmla="val 25000"/>
            </a:avLst>
          </a:prstGeom>
          <a:solidFill>
            <a:srgbClr val="F2B134"/>
          </a:solidFill>
          <a:ln/>
        </p:spPr>
      </p:sp>
      <p:sp>
        <p:nvSpPr>
          <p:cNvPr id="5" name="Text 3"/>
          <p:cNvSpPr/>
          <p:nvPr/>
        </p:nvSpPr>
        <p:spPr>
          <a:xfrm>
            <a:off x="5088636" y="2148840"/>
            <a:ext cx="2011680" cy="365760"/>
          </a:xfrm>
          <a:prstGeom prst="rect">
            <a:avLst/>
          </a:prstGeom>
          <a:noFill/>
          <a:ln/>
        </p:spPr>
        <p:txBody>
          <a:bodyPr wrap="square" rtlCol="0" anchor="ctr"/>
          <a:lstStyle/>
          <a:p>
            <a:pPr marL="0" indent="0" algn="ctr">
              <a:buNone/>
            </a:pPr>
            <a:r>
              <a:rPr lang="en-US" sz="1200" b="1" kern="0" spc="150" dirty="0">
                <a:solidFill>
                  <a:srgbClr val="0B1F3A"/>
                </a:solidFill>
                <a:latin typeface="Calibri" pitchFamily="34" charset="0"/>
                <a:ea typeface="Calibri" pitchFamily="34" charset="-122"/>
                <a:cs typeface="Calibri" pitchFamily="34" charset="-120"/>
              </a:rPr>
              <a:t>PRP PROJECT</a:t>
            </a:r>
            <a:endParaRPr lang="en-US" sz="1200" dirty="0"/>
          </a:p>
        </p:txBody>
      </p:sp>
      <p:sp>
        <p:nvSpPr>
          <p:cNvPr id="6" name="Text 4"/>
          <p:cNvSpPr/>
          <p:nvPr/>
        </p:nvSpPr>
        <p:spPr>
          <a:xfrm>
            <a:off x="0" y="2697480"/>
            <a:ext cx="12188952"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12" name="Text 10"/>
          <p:cNvSpPr/>
          <p:nvPr/>
        </p:nvSpPr>
        <p:spPr>
          <a:xfrm>
            <a:off x="4910328" y="4572000"/>
            <a:ext cx="2834640" cy="365760"/>
          </a:xfrm>
          <a:prstGeom prst="rect">
            <a:avLst/>
          </a:prstGeom>
          <a:noFill/>
          <a:ln/>
        </p:spPr>
        <p:txBody>
          <a:bodyPr wrap="square" lIns="0" tIns="0" rIns="0" bIns="0" rtlCol="0" anchor="ctr"/>
          <a:lstStyle/>
          <a:p>
            <a:pPr marL="0" indent="0">
              <a:buNone/>
            </a:pPr>
            <a:endParaRPr lang="en-US" sz="1250" dirty="0"/>
          </a:p>
        </p:txBody>
      </p:sp>
      <p:sp>
        <p:nvSpPr>
          <p:cNvPr id="13" name="Text 11"/>
          <p:cNvSpPr/>
          <p:nvPr/>
        </p:nvSpPr>
        <p:spPr>
          <a:xfrm>
            <a:off x="4910328" y="4956048"/>
            <a:ext cx="2834640" cy="777240"/>
          </a:xfrm>
          <a:prstGeom prst="rect">
            <a:avLst/>
          </a:prstGeom>
          <a:noFill/>
          <a:ln/>
        </p:spPr>
        <p:txBody>
          <a:bodyPr wrap="square" lIns="0" tIns="0" rIns="0" bIns="0" rtlCol="0" anchor="ctr"/>
          <a:lstStyle/>
          <a:p>
            <a:pPr marL="0" indent="0">
              <a:lnSpc>
                <a:spcPct val="120000"/>
              </a:lnSpc>
              <a:buNone/>
            </a:pPr>
            <a:endParaRPr lang="en-US" sz="980" dirty="0"/>
          </a:p>
        </p:txBody>
      </p:sp>
      <p:sp>
        <p:nvSpPr>
          <p:cNvPr id="15" name="Text 13"/>
          <p:cNvSpPr/>
          <p:nvPr/>
        </p:nvSpPr>
        <p:spPr>
          <a:xfrm>
            <a:off x="8339328" y="4572000"/>
            <a:ext cx="2834640" cy="365760"/>
          </a:xfrm>
          <a:prstGeom prst="rect">
            <a:avLst/>
          </a:prstGeom>
          <a:noFill/>
          <a:ln/>
        </p:spPr>
        <p:txBody>
          <a:bodyPr wrap="square" lIns="0" tIns="0" rIns="0" bIns="0" rtlCol="0" anchor="ctr"/>
          <a:lstStyle/>
          <a:p>
            <a:pPr marL="0" indent="0">
              <a:buNone/>
            </a:pPr>
            <a:endParaRPr lang="en-US" sz="1250" dirty="0"/>
          </a:p>
        </p:txBody>
      </p:sp>
      <p:sp>
        <p:nvSpPr>
          <p:cNvPr id="16" name="Text 14"/>
          <p:cNvSpPr/>
          <p:nvPr/>
        </p:nvSpPr>
        <p:spPr>
          <a:xfrm>
            <a:off x="8339328" y="4956048"/>
            <a:ext cx="2834640" cy="777240"/>
          </a:xfrm>
          <a:prstGeom prst="rect">
            <a:avLst/>
          </a:prstGeom>
          <a:noFill/>
          <a:ln/>
        </p:spPr>
        <p:txBody>
          <a:bodyPr wrap="square" lIns="0" tIns="0" rIns="0" bIns="0" rtlCol="0" anchor="ctr"/>
          <a:lstStyle/>
          <a:p>
            <a:pPr marL="0" indent="0">
              <a:lnSpc>
                <a:spcPct val="120000"/>
              </a:lnSpc>
              <a:buNone/>
            </a:pPr>
            <a:endParaRPr lang="en-US" sz="980" dirty="0"/>
          </a:p>
        </p:txBody>
      </p:sp>
      <p:sp>
        <p:nvSpPr>
          <p:cNvPr id="17" name="Text 15"/>
          <p:cNvSpPr/>
          <p:nvPr/>
        </p:nvSpPr>
        <p:spPr>
          <a:xfrm>
            <a:off x="0" y="6263640"/>
            <a:ext cx="12188952" cy="320040"/>
          </a:xfrm>
          <a:prstGeom prst="rect">
            <a:avLst/>
          </a:prstGeom>
          <a:noFill/>
          <a:ln/>
        </p:spPr>
        <p:txBody>
          <a:bodyPr wrap="square" lIns="0" tIns="0" rIns="0" bIns="0" rtlCol="0" anchor="ctr"/>
          <a:lstStyle/>
          <a:p>
            <a:pPr marL="0" indent="0" algn="ctr">
              <a:buNone/>
            </a:pPr>
            <a:r>
              <a:rPr lang="en-US" sz="1050" dirty="0">
                <a:solidFill>
                  <a:srgbClr val="8CA0BE"/>
                </a:solidFill>
                <a:latin typeface="Calibri" pitchFamily="34" charset="0"/>
                <a:ea typeface="Calibri" pitchFamily="34" charset="-122"/>
                <a:cs typeface="Calibri" pitchFamily="34" charset="-120"/>
              </a:rPr>
              <a:t>Prepared by Shubham Vishwakarma  |  PRP Project  |  2026  |</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2580</Words>
  <Application>Microsoft Office PowerPoint</Application>
  <PresentationFormat>Widescreen</PresentationFormat>
  <Paragraphs>400</Paragraphs>
  <Slides>21</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shubham vishwakarma</cp:lastModifiedBy>
  <cp:revision>18</cp:revision>
  <dcterms:created xsi:type="dcterms:W3CDTF">2026-09-02T07:55:51Z</dcterms:created>
  <dcterms:modified xsi:type="dcterms:W3CDTF">2026-09-02T09:46:34Z</dcterms:modified>
</cp:coreProperties>
</file>